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Montserrat"/>
      <p:regular r:id="rId26"/>
      <p:bold r:id="rId27"/>
      <p:italic r:id="rId28"/>
      <p:boldItalic r:id="rId29"/>
    </p:embeddedFont>
    <p:embeddedFont>
      <p:font typeface="Lato"/>
      <p:regular r:id="rId30"/>
      <p:bold r:id="rId31"/>
      <p:italic r:id="rId32"/>
      <p:boldItalic r:id="rId33"/>
    </p:embeddedFont>
    <p:embeddedFont>
      <p:font typeface="Quattrocento Sans"/>
      <p:regular r:id="rId34"/>
      <p:bold r:id="rId35"/>
      <p:italic r:id="rId36"/>
      <p:boldItalic r:id="rId37"/>
    </p:embeddedFont>
    <p:embeddedFont>
      <p:font typeface="Roboto Mon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20" Type="http://schemas.openxmlformats.org/officeDocument/2006/relationships/slide" Target="slides/slide15.xml"/><Relationship Id="rId41" Type="http://schemas.openxmlformats.org/officeDocument/2006/relationships/font" Target="fonts/RobotoMon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regular.fntdata"/><Relationship Id="rId25" Type="http://schemas.openxmlformats.org/officeDocument/2006/relationships/slide" Target="slides/slide20.xml"/><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35" Type="http://schemas.openxmlformats.org/officeDocument/2006/relationships/font" Target="fonts/QuattrocentoSans-bold.fntdata"/><Relationship Id="rId12" Type="http://schemas.openxmlformats.org/officeDocument/2006/relationships/slide" Target="slides/slide7.xml"/><Relationship Id="rId34" Type="http://schemas.openxmlformats.org/officeDocument/2006/relationships/font" Target="fonts/QuattrocentoSans-regular.fntdata"/><Relationship Id="rId15" Type="http://schemas.openxmlformats.org/officeDocument/2006/relationships/slide" Target="slides/slide10.xml"/><Relationship Id="rId37" Type="http://schemas.openxmlformats.org/officeDocument/2006/relationships/font" Target="fonts/QuattrocentoSans-boldItalic.fntdata"/><Relationship Id="rId14" Type="http://schemas.openxmlformats.org/officeDocument/2006/relationships/slide" Target="slides/slide9.xml"/><Relationship Id="rId36" Type="http://schemas.openxmlformats.org/officeDocument/2006/relationships/font" Target="fonts/QuattrocentoSans-italic.fntdata"/><Relationship Id="rId17" Type="http://schemas.openxmlformats.org/officeDocument/2006/relationships/slide" Target="slides/slide12.xml"/><Relationship Id="rId39" Type="http://schemas.openxmlformats.org/officeDocument/2006/relationships/font" Target="fonts/RobotoMono-bold.fntdata"/><Relationship Id="rId16" Type="http://schemas.openxmlformats.org/officeDocument/2006/relationships/slide" Target="slides/slide11.xml"/><Relationship Id="rId38" Type="http://schemas.openxmlformats.org/officeDocument/2006/relationships/font" Target="fonts/RobotoMon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241b966a1f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241b966a1f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41b966a1f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41b966a1f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41b966a1f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241b966a1f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41b966a1f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41b966a1f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41b966a1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241b966a1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241b966a1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241b966a1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241b966a1f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241b966a1f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241b966a1f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241b966a1f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241b966a1f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241b966a1f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241b966a1f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241b966a1f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241b966a1f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241b966a1f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241b966a1f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241b966a1f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41b966a1f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241b966a1f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241b966a1f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241b966a1f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41b966a1f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241b966a1f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241b966a1f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241b966a1f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241b966a1f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241b966a1f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241b966a1f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241b966a1f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241b966a1f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241b966a1f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kaggle.com/datasets/muhammadroshaanriaz/students-performance-dataset-cleaned/dat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113050" y="1099950"/>
            <a:ext cx="56754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Students Performance Dataset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5" name="Google Shape;135;p13"/>
          <p:cNvSpPr txBox="1"/>
          <p:nvPr>
            <p:ph idx="1" type="subTitle"/>
          </p:nvPr>
        </p:nvSpPr>
        <p:spPr>
          <a:xfrm>
            <a:off x="5493650" y="3777700"/>
            <a:ext cx="4589100" cy="117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latin typeface="Arial"/>
                <a:ea typeface="Arial"/>
                <a:cs typeface="Arial"/>
                <a:sym typeface="Arial"/>
              </a:rPr>
              <a:t>SHUBHANKAN SHINDE</a:t>
            </a:r>
            <a:endParaRPr sz="2200">
              <a:latin typeface="Arial"/>
              <a:ea typeface="Arial"/>
              <a:cs typeface="Arial"/>
              <a:sym typeface="Arial"/>
            </a:endParaRPr>
          </a:p>
          <a:p>
            <a:pPr indent="0" lvl="0" marL="0" rtl="0" algn="l">
              <a:spcBef>
                <a:spcPts val="0"/>
              </a:spcBef>
              <a:spcAft>
                <a:spcPts val="0"/>
              </a:spcAft>
              <a:buNone/>
            </a:pPr>
            <a:r>
              <a:t/>
            </a:r>
            <a:endParaRPr sz="2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lt1"/>
              </a:buClr>
              <a:buSzPts val="4000"/>
              <a:buFont typeface="Twentieth Century"/>
              <a:buNone/>
            </a:pPr>
            <a:r>
              <a:rPr b="1" lang="en" sz="4000">
                <a:latin typeface="Twentieth Century"/>
                <a:ea typeface="Twentieth Century"/>
                <a:cs typeface="Twentieth Century"/>
                <a:sym typeface="Twentieth Century"/>
              </a:rPr>
              <a:t>CONTENTS</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7500" lnSpcReduction="20000"/>
          </a:bodyPr>
          <a:lstStyle/>
          <a:p>
            <a:pPr indent="-308610" lvl="0" marL="342900" rtl="0" algn="l">
              <a:lnSpc>
                <a:spcPct val="150000"/>
              </a:lnSpc>
              <a:spcBef>
                <a:spcPts val="0"/>
              </a:spcBef>
              <a:spcAft>
                <a:spcPts val="0"/>
              </a:spcAft>
              <a:buClr>
                <a:srgbClr val="F6A6F4"/>
              </a:buClr>
              <a:buSzPct val="100000"/>
              <a:buFont typeface="Courier New"/>
              <a:buChar char="o"/>
            </a:pPr>
            <a:r>
              <a:rPr lang="en" sz="2400">
                <a:latin typeface="Quattrocento Sans"/>
                <a:ea typeface="Quattrocento Sans"/>
                <a:cs typeface="Quattrocento Sans"/>
                <a:sym typeface="Quattrocento Sans"/>
              </a:rPr>
              <a:t>Introduction</a:t>
            </a:r>
            <a:endParaRPr sz="2400">
              <a:latin typeface="Quattrocento Sans"/>
              <a:ea typeface="Quattrocento Sans"/>
              <a:cs typeface="Quattrocento Sans"/>
              <a:sym typeface="Quattrocento Sans"/>
            </a:endParaRPr>
          </a:p>
          <a:p>
            <a:pPr indent="-308610" lvl="0" marL="342900" rtl="0" algn="l">
              <a:lnSpc>
                <a:spcPct val="150000"/>
              </a:lnSpc>
              <a:spcBef>
                <a:spcPts val="0"/>
              </a:spcBef>
              <a:spcAft>
                <a:spcPts val="0"/>
              </a:spcAft>
              <a:buClr>
                <a:srgbClr val="F6A6F4"/>
              </a:buClr>
              <a:buSzPct val="100000"/>
              <a:buFont typeface="Quattrocento Sans"/>
              <a:buChar char="o"/>
            </a:pPr>
            <a:r>
              <a:rPr lang="en" sz="2400">
                <a:latin typeface="Quattrocento Sans"/>
                <a:ea typeface="Quattrocento Sans"/>
                <a:cs typeface="Quattrocento Sans"/>
                <a:sym typeface="Quattrocento Sans"/>
              </a:rPr>
              <a:t>Dataset Overview</a:t>
            </a:r>
            <a:endParaRPr sz="2400">
              <a:latin typeface="Quattrocento Sans"/>
              <a:ea typeface="Quattrocento Sans"/>
              <a:cs typeface="Quattrocento Sans"/>
              <a:sym typeface="Quattrocento Sans"/>
            </a:endParaRPr>
          </a:p>
          <a:p>
            <a:pPr indent="-308610" lvl="0" marL="342900" rtl="0" algn="l">
              <a:lnSpc>
                <a:spcPct val="150000"/>
              </a:lnSpc>
              <a:spcBef>
                <a:spcPts val="1000"/>
              </a:spcBef>
              <a:spcAft>
                <a:spcPts val="0"/>
              </a:spcAft>
              <a:buClr>
                <a:srgbClr val="F6A6F4"/>
              </a:buClr>
              <a:buSzPct val="100000"/>
              <a:buFont typeface="Courier New"/>
              <a:buChar char="o"/>
            </a:pPr>
            <a:r>
              <a:rPr lang="en" sz="2400">
                <a:latin typeface="Quattrocento Sans"/>
                <a:ea typeface="Quattrocento Sans"/>
                <a:cs typeface="Quattrocento Sans"/>
                <a:sym typeface="Quattrocento Sans"/>
              </a:rPr>
              <a:t>Code and Output</a:t>
            </a:r>
            <a:endParaRPr sz="2400">
              <a:latin typeface="Quattrocento Sans"/>
              <a:ea typeface="Quattrocento Sans"/>
              <a:cs typeface="Quattrocento Sans"/>
              <a:sym typeface="Quattrocento Sans"/>
            </a:endParaRPr>
          </a:p>
          <a:p>
            <a:pPr indent="-308610" lvl="0" marL="342900" rtl="0" algn="l">
              <a:lnSpc>
                <a:spcPct val="150000"/>
              </a:lnSpc>
              <a:spcBef>
                <a:spcPts val="1000"/>
              </a:spcBef>
              <a:spcAft>
                <a:spcPts val="0"/>
              </a:spcAft>
              <a:buClr>
                <a:srgbClr val="F6A6F4"/>
              </a:buClr>
              <a:buSzPct val="100000"/>
              <a:buFont typeface="Courier New"/>
              <a:buChar char="o"/>
            </a:pPr>
            <a:r>
              <a:rPr lang="en" sz="2400">
                <a:latin typeface="Quattrocento Sans"/>
                <a:ea typeface="Quattrocento Sans"/>
                <a:cs typeface="Quattrocento Sans"/>
                <a:sym typeface="Quattrocento Sans"/>
              </a:rPr>
              <a:t>Exploring and Visualizing Data for Insights</a:t>
            </a:r>
            <a:endParaRPr sz="2400">
              <a:latin typeface="Quattrocento Sans"/>
              <a:ea typeface="Quattrocento Sans"/>
              <a:cs typeface="Quattrocento Sans"/>
              <a:sym typeface="Quattrocento Sans"/>
            </a:endParaRPr>
          </a:p>
          <a:p>
            <a:pPr indent="-308610" lvl="0" marL="342900" rtl="0" algn="l">
              <a:lnSpc>
                <a:spcPct val="150000"/>
              </a:lnSpc>
              <a:spcBef>
                <a:spcPts val="1000"/>
              </a:spcBef>
              <a:spcAft>
                <a:spcPts val="0"/>
              </a:spcAft>
              <a:buClr>
                <a:srgbClr val="F6A6F4"/>
              </a:buClr>
              <a:buSzPct val="100000"/>
              <a:buFont typeface="Courier New"/>
              <a:buChar char="o"/>
            </a:pPr>
            <a:r>
              <a:rPr lang="en" sz="2400">
                <a:latin typeface="Quattrocento Sans"/>
                <a:ea typeface="Quattrocento Sans"/>
                <a:cs typeface="Quattrocento Sans"/>
                <a:sym typeface="Quattrocento Sans"/>
              </a:rPr>
              <a:t>Recommendation and Suggestions </a:t>
            </a:r>
            <a:endParaRPr sz="2400">
              <a:latin typeface="Quattrocento Sans"/>
              <a:ea typeface="Quattrocento Sans"/>
              <a:cs typeface="Quattrocento Sans"/>
              <a:sym typeface="Quattrocento Sans"/>
            </a:endParaRPr>
          </a:p>
          <a:p>
            <a:pPr indent="-308610" lvl="0" marL="342900" rtl="0" algn="l">
              <a:lnSpc>
                <a:spcPct val="150000"/>
              </a:lnSpc>
              <a:spcBef>
                <a:spcPts val="1000"/>
              </a:spcBef>
              <a:spcAft>
                <a:spcPts val="0"/>
              </a:spcAft>
              <a:buClr>
                <a:srgbClr val="F6A6F4"/>
              </a:buClr>
              <a:buSzPct val="100000"/>
              <a:buFont typeface="Courier New"/>
              <a:buChar char="o"/>
            </a:pPr>
            <a:r>
              <a:rPr lang="en" sz="2400">
                <a:latin typeface="Quattrocento Sans"/>
                <a:ea typeface="Quattrocento Sans"/>
                <a:cs typeface="Quattrocento Sans"/>
                <a:sym typeface="Quattrocento Sans"/>
              </a:rPr>
              <a:t>Conclusion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lnSpc>
                <a:spcPct val="90000"/>
              </a:lnSpc>
              <a:spcBef>
                <a:spcPts val="0"/>
              </a:spcBef>
              <a:spcAft>
                <a:spcPts val="0"/>
              </a:spcAft>
              <a:buClr>
                <a:schemeClr val="lt1"/>
              </a:buClr>
              <a:buSzPct val="100000"/>
              <a:buFont typeface="Twentieth Century"/>
              <a:buNone/>
            </a:pPr>
            <a:r>
              <a:rPr b="1" lang="en" sz="4800">
                <a:latin typeface="Twentieth Century"/>
                <a:ea typeface="Twentieth Century"/>
                <a:cs typeface="Twentieth Century"/>
                <a:sym typeface="Twentieth Century"/>
              </a:rPr>
              <a:t>INTRODUCTION</a:t>
            </a:r>
            <a:endParaRPr b="1" sz="4000">
              <a:latin typeface="Twentieth Century"/>
              <a:ea typeface="Twentieth Century"/>
              <a:cs typeface="Twentieth Century"/>
              <a:sym typeface="Twentieth Century"/>
            </a:endParaRPr>
          </a:p>
          <a:p>
            <a:pPr indent="0" lvl="0" marL="0" rtl="0" algn="l">
              <a:spcBef>
                <a:spcPts val="0"/>
              </a:spcBef>
              <a:spcAft>
                <a:spcPts val="0"/>
              </a:spcAft>
              <a:buNone/>
            </a:pPr>
            <a:r>
              <a:t/>
            </a:r>
            <a:endParaRPr/>
          </a:p>
        </p:txBody>
      </p:sp>
      <p:sp>
        <p:nvSpPr>
          <p:cNvPr id="147" name="Google Shape;147;p15"/>
          <p:cNvSpPr txBox="1"/>
          <p:nvPr>
            <p:ph idx="1" type="body"/>
          </p:nvPr>
        </p:nvSpPr>
        <p:spPr>
          <a:xfrm>
            <a:off x="1297500" y="1567550"/>
            <a:ext cx="7038900" cy="2911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0" lvl="0" marL="0" rtl="0" algn="just">
              <a:spcBef>
                <a:spcPts val="1200"/>
              </a:spcBef>
              <a:spcAft>
                <a:spcPts val="1200"/>
              </a:spcAft>
              <a:buNone/>
            </a:pPr>
            <a:r>
              <a:rPr lang="en" sz="1800">
                <a:latin typeface="Times New Roman"/>
                <a:ea typeface="Times New Roman"/>
                <a:cs typeface="Times New Roman"/>
                <a:sym typeface="Times New Roman"/>
              </a:rPr>
              <a:t>This project creates a binary classification model by analyzing the Students Performance Dataset. Significant data preprocessing was required for the process, which included scaling numerical features, encoding categorical variables, and handling missing values. I trained a K-Nearest Neighbors (K-NN) model and used visualizations for exploring feature relationships. Utilizing metrics for accuracy, precision, and recall, I analyzed the model's performance and determined the ideal value of 'K' to attain the best outcomes.</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Overview</a:t>
            </a:r>
            <a:endParaRPr/>
          </a:p>
        </p:txBody>
      </p:sp>
      <p:sp>
        <p:nvSpPr>
          <p:cNvPr id="153" name="Google Shape;153;p16"/>
          <p:cNvSpPr txBox="1"/>
          <p:nvPr>
            <p:ph idx="1" type="body"/>
          </p:nvPr>
        </p:nvSpPr>
        <p:spPr>
          <a:xfrm>
            <a:off x="1254000" y="983025"/>
            <a:ext cx="7038900" cy="32673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SzPts val="1600"/>
              <a:buFont typeface="Arial"/>
              <a:buChar char="●"/>
            </a:pPr>
            <a:r>
              <a:rPr b="1" lang="en" sz="1600">
                <a:latin typeface="Times New Roman"/>
                <a:ea typeface="Times New Roman"/>
                <a:cs typeface="Times New Roman"/>
                <a:sym typeface="Times New Roman"/>
              </a:rPr>
              <a:t>Dataset Name</a:t>
            </a:r>
            <a:r>
              <a:rPr lang="en" sz="1600">
                <a:latin typeface="Times New Roman"/>
                <a:ea typeface="Times New Roman"/>
                <a:cs typeface="Times New Roman"/>
                <a:sym typeface="Times New Roman"/>
              </a:rPr>
              <a:t>: Students Performance Dataset</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Arial"/>
              <a:buChar char="●"/>
            </a:pPr>
            <a:r>
              <a:rPr b="1" lang="en" sz="1600">
                <a:latin typeface="Times New Roman"/>
                <a:ea typeface="Times New Roman"/>
                <a:cs typeface="Times New Roman"/>
                <a:sym typeface="Times New Roman"/>
              </a:rPr>
              <a:t>Source</a:t>
            </a:r>
            <a:r>
              <a:rPr lang="en" sz="1600">
                <a:latin typeface="Times New Roman"/>
                <a:ea typeface="Times New Roman"/>
                <a:cs typeface="Times New Roman"/>
                <a:sym typeface="Times New Roman"/>
              </a:rPr>
              <a:t>: Kaggle (</a:t>
            </a:r>
            <a:r>
              <a:rPr lang="en" sz="1600" u="sng">
                <a:latin typeface="Times New Roman"/>
                <a:ea typeface="Times New Roman"/>
                <a:cs typeface="Times New Roman"/>
                <a:sym typeface="Times New Roman"/>
                <a:hlinkClick r:id="rId3"/>
              </a:rPr>
              <a:t>https://www.kaggle.com/datasets/muhammadroshaanriaz/students-performance-dataset-cleaned/data</a:t>
            </a:r>
            <a:r>
              <a:rPr lang="en"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Arial"/>
              <a:buChar char="●"/>
            </a:pPr>
            <a:r>
              <a:rPr b="1" lang="en" sz="1600">
                <a:latin typeface="Times New Roman"/>
                <a:ea typeface="Times New Roman"/>
                <a:cs typeface="Times New Roman"/>
                <a:sym typeface="Times New Roman"/>
              </a:rPr>
              <a:t>Number of Records</a:t>
            </a:r>
            <a:r>
              <a:rPr lang="en" sz="1600">
                <a:latin typeface="Times New Roman"/>
                <a:ea typeface="Times New Roman"/>
                <a:cs typeface="Times New Roman"/>
                <a:sym typeface="Times New Roman"/>
              </a:rPr>
              <a:t>: 1,000</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Arial"/>
              <a:buChar char="●"/>
            </a:pPr>
            <a:r>
              <a:rPr b="1" lang="en" sz="1600">
                <a:latin typeface="Times New Roman"/>
                <a:ea typeface="Times New Roman"/>
                <a:cs typeface="Times New Roman"/>
                <a:sym typeface="Times New Roman"/>
              </a:rPr>
              <a:t>Number of Features</a:t>
            </a:r>
            <a:r>
              <a:rPr lang="en" sz="1600">
                <a:latin typeface="Times New Roman"/>
                <a:ea typeface="Times New Roman"/>
                <a:cs typeface="Times New Roman"/>
                <a:sym typeface="Times New Roman"/>
              </a:rPr>
              <a:t>: 10 (combination of categorical and numerical variables)</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Arial"/>
              <a:buChar char="●"/>
            </a:pPr>
            <a:r>
              <a:rPr b="1" lang="en" sz="1600">
                <a:latin typeface="Times New Roman"/>
                <a:ea typeface="Times New Roman"/>
                <a:cs typeface="Times New Roman"/>
                <a:sym typeface="Times New Roman"/>
              </a:rPr>
              <a:t>Target Variable</a:t>
            </a:r>
            <a:r>
              <a:rPr lang="en" sz="1600">
                <a:latin typeface="Times New Roman"/>
                <a:ea typeface="Times New Roman"/>
                <a:cs typeface="Times New Roman"/>
                <a:sym typeface="Times New Roman"/>
              </a:rPr>
              <a:t>: A binary variable indicating performance levels:</a:t>
            </a:r>
            <a:endParaRPr sz="1600">
              <a:latin typeface="Times New Roman"/>
              <a:ea typeface="Times New Roman"/>
              <a:cs typeface="Times New Roman"/>
              <a:sym typeface="Times New Roman"/>
            </a:endParaRPr>
          </a:p>
          <a:p>
            <a:pPr indent="0" lvl="0" marL="457200" rtl="0" algn="l">
              <a:spcBef>
                <a:spcPts val="1200"/>
              </a:spcBef>
              <a:spcAft>
                <a:spcPts val="0"/>
              </a:spcAft>
              <a:buNone/>
            </a:pPr>
            <a:r>
              <a:rPr lang="en" sz="1600">
                <a:latin typeface="Times New Roman"/>
                <a:ea typeface="Times New Roman"/>
                <a:cs typeface="Times New Roman"/>
                <a:sym typeface="Times New Roman"/>
              </a:rPr>
              <a:t>  </a:t>
            </a:r>
            <a:r>
              <a:rPr b="1" lang="en" sz="1600">
                <a:latin typeface="Times New Roman"/>
                <a:ea typeface="Times New Roman"/>
                <a:cs typeface="Times New Roman"/>
                <a:sym typeface="Times New Roman"/>
              </a:rPr>
              <a:t>1 (High Performance)</a:t>
            </a:r>
            <a:r>
              <a:rPr lang="en" sz="1600">
                <a:latin typeface="Times New Roman"/>
                <a:ea typeface="Times New Roman"/>
                <a:cs typeface="Times New Roman"/>
                <a:sym typeface="Times New Roman"/>
              </a:rPr>
              <a:t>: Average score ≥ 75%</a:t>
            </a:r>
            <a:endParaRPr sz="1600">
              <a:latin typeface="Times New Roman"/>
              <a:ea typeface="Times New Roman"/>
              <a:cs typeface="Times New Roman"/>
              <a:sym typeface="Times New Roman"/>
            </a:endParaRPr>
          </a:p>
          <a:p>
            <a:pPr indent="0" lvl="0" marL="0" rtl="0" algn="l">
              <a:spcBef>
                <a:spcPts val="1200"/>
              </a:spcBef>
              <a:spcAft>
                <a:spcPts val="1200"/>
              </a:spcAft>
              <a:buNone/>
            </a:pPr>
            <a:r>
              <a:rPr b="1" lang="en" sz="1600">
                <a:latin typeface="Times New Roman"/>
                <a:ea typeface="Times New Roman"/>
                <a:cs typeface="Times New Roman"/>
                <a:sym typeface="Times New Roman"/>
              </a:rPr>
              <a:t>           0 (Low Performance)</a:t>
            </a:r>
            <a:r>
              <a:rPr lang="en" sz="1600">
                <a:latin typeface="Times New Roman"/>
                <a:ea typeface="Times New Roman"/>
                <a:cs typeface="Times New Roman"/>
                <a:sym typeface="Times New Roman"/>
              </a:rPr>
              <a:t>: Average score &lt; 75%</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17"/>
          <p:cNvPicPr preferRelativeResize="0"/>
          <p:nvPr/>
        </p:nvPicPr>
        <p:blipFill>
          <a:blip r:embed="rId3">
            <a:alphaModFix/>
          </a:blip>
          <a:stretch>
            <a:fillRect/>
          </a:stretch>
        </p:blipFill>
        <p:spPr>
          <a:xfrm>
            <a:off x="0" y="0"/>
            <a:ext cx="6216674" cy="2733775"/>
          </a:xfrm>
          <a:prstGeom prst="rect">
            <a:avLst/>
          </a:prstGeom>
          <a:noFill/>
          <a:ln>
            <a:noFill/>
          </a:ln>
        </p:spPr>
      </p:pic>
      <p:pic>
        <p:nvPicPr>
          <p:cNvPr id="159" name="Google Shape;159;p17"/>
          <p:cNvPicPr preferRelativeResize="0"/>
          <p:nvPr/>
        </p:nvPicPr>
        <p:blipFill>
          <a:blip r:embed="rId4">
            <a:alphaModFix/>
          </a:blip>
          <a:stretch>
            <a:fillRect/>
          </a:stretch>
        </p:blipFill>
        <p:spPr>
          <a:xfrm>
            <a:off x="3998325" y="1884022"/>
            <a:ext cx="5145675" cy="325947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18"/>
          <p:cNvPicPr preferRelativeResize="0"/>
          <p:nvPr/>
        </p:nvPicPr>
        <p:blipFill>
          <a:blip r:embed="rId3">
            <a:alphaModFix/>
          </a:blip>
          <a:stretch>
            <a:fillRect/>
          </a:stretch>
        </p:blipFill>
        <p:spPr>
          <a:xfrm>
            <a:off x="152400" y="152400"/>
            <a:ext cx="5838825" cy="47997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1297525" y="176275"/>
            <a:ext cx="7038900" cy="914100"/>
          </a:xfrm>
          <a:prstGeom prst="rect">
            <a:avLst/>
          </a:prstGeom>
        </p:spPr>
        <p:txBody>
          <a:bodyPr anchorCtr="0" anchor="t" bIns="91425" lIns="91425" spcFirstLastPara="1" rIns="91425" wrap="square" tIns="91425">
            <a:normAutofit fontScale="90000"/>
          </a:bodyPr>
          <a:lstStyle/>
          <a:p>
            <a:pPr indent="0" lvl="0" marL="0" rtl="0" algn="ctr">
              <a:lnSpc>
                <a:spcPct val="90000"/>
              </a:lnSpc>
              <a:spcBef>
                <a:spcPts val="0"/>
              </a:spcBef>
              <a:spcAft>
                <a:spcPts val="0"/>
              </a:spcAft>
              <a:buNone/>
            </a:pPr>
            <a:r>
              <a:t/>
            </a:r>
            <a:endParaRPr b="1" sz="2000">
              <a:latin typeface="Times New Roman"/>
              <a:ea typeface="Times New Roman"/>
              <a:cs typeface="Times New Roman"/>
              <a:sym typeface="Times New Roman"/>
            </a:endParaRPr>
          </a:p>
          <a:p>
            <a:pPr indent="0" lvl="0" marL="0" rtl="0" algn="ctr">
              <a:lnSpc>
                <a:spcPct val="90000"/>
              </a:lnSpc>
              <a:spcBef>
                <a:spcPts val="0"/>
              </a:spcBef>
              <a:spcAft>
                <a:spcPts val="0"/>
              </a:spcAft>
              <a:buNone/>
            </a:pPr>
            <a:r>
              <a:rPr b="1" lang="en" sz="2000">
                <a:latin typeface="Times New Roman"/>
                <a:ea typeface="Times New Roman"/>
                <a:cs typeface="Times New Roman"/>
                <a:sym typeface="Times New Roman"/>
              </a:rPr>
              <a:t>EXPLORING AND VISUALIZING DATA FOR INSIGHTS</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0" name="Google Shape;170;p19"/>
          <p:cNvSpPr txBox="1"/>
          <p:nvPr>
            <p:ph idx="1" type="body"/>
          </p:nvPr>
        </p:nvSpPr>
        <p:spPr>
          <a:xfrm>
            <a:off x="0" y="1211425"/>
            <a:ext cx="3978000" cy="39321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SzPts val="1500"/>
              <a:buFont typeface="Arial"/>
              <a:buChar char="●"/>
            </a:pPr>
            <a:r>
              <a:rPr lang="en" sz="1500">
                <a:latin typeface="Arial"/>
                <a:ea typeface="Arial"/>
                <a:cs typeface="Arial"/>
                <a:sym typeface="Arial"/>
              </a:rPr>
              <a:t>The histogram shows a </a:t>
            </a:r>
            <a:r>
              <a:rPr b="1" lang="en" sz="1500">
                <a:latin typeface="Arial"/>
                <a:ea typeface="Arial"/>
                <a:cs typeface="Arial"/>
                <a:sym typeface="Arial"/>
              </a:rPr>
              <a:t>normal distribution</a:t>
            </a:r>
            <a:r>
              <a:rPr lang="en" sz="1500">
                <a:latin typeface="Arial"/>
                <a:ea typeface="Arial"/>
                <a:cs typeface="Arial"/>
                <a:sym typeface="Arial"/>
              </a:rPr>
              <a:t> of average scores.</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Most students scored between </a:t>
            </a:r>
            <a:r>
              <a:rPr b="1" lang="en" sz="1500">
                <a:latin typeface="Arial"/>
                <a:ea typeface="Arial"/>
                <a:cs typeface="Arial"/>
                <a:sym typeface="Arial"/>
              </a:rPr>
              <a:t>50 and 80</a:t>
            </a:r>
            <a:r>
              <a:rPr lang="en" sz="1500">
                <a:latin typeface="Arial"/>
                <a:ea typeface="Arial"/>
                <a:cs typeface="Arial"/>
                <a:sym typeface="Arial"/>
              </a:rPr>
              <a:t>, with the highest frequency around </a:t>
            </a:r>
            <a:r>
              <a:rPr b="1" lang="en" sz="1500">
                <a:latin typeface="Arial"/>
                <a:ea typeface="Arial"/>
                <a:cs typeface="Arial"/>
                <a:sym typeface="Arial"/>
              </a:rPr>
              <a:t>70</a:t>
            </a:r>
            <a:r>
              <a:rPr lang="en" sz="1500">
                <a:latin typeface="Arial"/>
                <a:ea typeface="Arial"/>
                <a:cs typeface="Arial"/>
                <a:sym typeface="Arial"/>
              </a:rPr>
              <a:t>.</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The scores gradually decline as they approach the lower (0-30) and higher (90-100) extremes.</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The distribution is </a:t>
            </a:r>
            <a:r>
              <a:rPr b="1" lang="en" sz="1500">
                <a:latin typeface="Arial"/>
                <a:ea typeface="Arial"/>
                <a:cs typeface="Arial"/>
                <a:sym typeface="Arial"/>
              </a:rPr>
              <a:t>centered around the mean</a:t>
            </a:r>
            <a:r>
              <a:rPr lang="en" sz="1500">
                <a:latin typeface="Arial"/>
                <a:ea typeface="Arial"/>
                <a:cs typeface="Arial"/>
                <a:sym typeface="Arial"/>
              </a:rPr>
              <a:t>, suggesting balanced performance trends.</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Slight skewness at the lower end indicates a small number of low-performing students.</a:t>
            </a:r>
            <a:endParaRPr sz="1500">
              <a:latin typeface="Arial"/>
              <a:ea typeface="Arial"/>
              <a:cs typeface="Arial"/>
              <a:sym typeface="Arial"/>
            </a:endParaRPr>
          </a:p>
          <a:p>
            <a:pPr indent="0" lvl="0" marL="0" rtl="0" algn="l">
              <a:spcBef>
                <a:spcPts val="1200"/>
              </a:spcBef>
              <a:spcAft>
                <a:spcPts val="1200"/>
              </a:spcAft>
              <a:buNone/>
            </a:pPr>
            <a:r>
              <a:t/>
            </a:r>
            <a:endParaRPr/>
          </a:p>
        </p:txBody>
      </p:sp>
      <p:sp>
        <p:nvSpPr>
          <p:cNvPr id="171" name="Google Shape;171;p19"/>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2" name="Google Shape;172;p19"/>
          <p:cNvPicPr preferRelativeResize="0"/>
          <p:nvPr/>
        </p:nvPicPr>
        <p:blipFill>
          <a:blip r:embed="rId3">
            <a:alphaModFix/>
          </a:blip>
          <a:stretch>
            <a:fillRect/>
          </a:stretch>
        </p:blipFill>
        <p:spPr>
          <a:xfrm>
            <a:off x="3977850" y="1211375"/>
            <a:ext cx="5166151" cy="3932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1406250" y="241500"/>
            <a:ext cx="7038900" cy="9141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None/>
            </a:pPr>
            <a:r>
              <a:rPr b="1" lang="en" sz="1700">
                <a:latin typeface="Arial"/>
                <a:ea typeface="Arial"/>
                <a:cs typeface="Arial"/>
                <a:sym typeface="Arial"/>
              </a:rPr>
              <a:t>Class Distribution (High vs Low Performance)</a:t>
            </a:r>
            <a:endParaRPr sz="2800"/>
          </a:p>
        </p:txBody>
      </p:sp>
      <p:sp>
        <p:nvSpPr>
          <p:cNvPr id="178" name="Google Shape;178;p20"/>
          <p:cNvSpPr txBox="1"/>
          <p:nvPr>
            <p:ph idx="1" type="body"/>
          </p:nvPr>
        </p:nvSpPr>
        <p:spPr>
          <a:xfrm>
            <a:off x="764675" y="958625"/>
            <a:ext cx="3403200" cy="38196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t/>
            </a:r>
            <a:endParaRPr b="1">
              <a:latin typeface="Arial"/>
              <a:ea typeface="Arial"/>
              <a:cs typeface="Arial"/>
              <a:sym typeface="Arial"/>
            </a:endParaRPr>
          </a:p>
          <a:p>
            <a:pPr indent="-311150" lvl="0" marL="457200" rtl="0" algn="l">
              <a:spcBef>
                <a:spcPts val="1200"/>
              </a:spcBef>
              <a:spcAft>
                <a:spcPts val="0"/>
              </a:spcAft>
              <a:buClr>
                <a:schemeClr val="lt1"/>
              </a:buClr>
              <a:buSzPts val="1300"/>
              <a:buFont typeface="Arial"/>
              <a:buChar char="●"/>
            </a:pPr>
            <a:r>
              <a:rPr lang="en">
                <a:latin typeface="Arial"/>
                <a:ea typeface="Arial"/>
                <a:cs typeface="Arial"/>
                <a:sym typeface="Arial"/>
              </a:rPr>
              <a:t>The bar chart shows an </a:t>
            </a:r>
            <a:r>
              <a:rPr b="1" lang="en">
                <a:latin typeface="Arial"/>
                <a:ea typeface="Arial"/>
                <a:cs typeface="Arial"/>
                <a:sym typeface="Arial"/>
              </a:rPr>
              <a:t>imbalance</a:t>
            </a:r>
            <a:r>
              <a:rPr lang="en">
                <a:latin typeface="Arial"/>
                <a:ea typeface="Arial"/>
                <a:cs typeface="Arial"/>
                <a:sym typeface="Arial"/>
              </a:rPr>
              <a:t> between the two classes.</a:t>
            </a:r>
            <a:endParaRPr>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b="1" lang="en">
                <a:latin typeface="Arial"/>
                <a:ea typeface="Arial"/>
                <a:cs typeface="Arial"/>
                <a:sym typeface="Arial"/>
              </a:rPr>
              <a:t>Low Performance</a:t>
            </a:r>
            <a:r>
              <a:rPr lang="en">
                <a:latin typeface="Arial"/>
                <a:ea typeface="Arial"/>
                <a:cs typeface="Arial"/>
                <a:sym typeface="Arial"/>
              </a:rPr>
              <a:t> students dominate the dataset with approximately </a:t>
            </a:r>
            <a:r>
              <a:rPr b="1" lang="en">
                <a:latin typeface="Arial"/>
                <a:ea typeface="Arial"/>
                <a:cs typeface="Arial"/>
                <a:sym typeface="Arial"/>
              </a:rPr>
              <a:t>700 counts</a:t>
            </a:r>
            <a:r>
              <a:rPr lang="en">
                <a:latin typeface="Arial"/>
                <a:ea typeface="Arial"/>
                <a:cs typeface="Arial"/>
                <a:sym typeface="Arial"/>
              </a:rPr>
              <a:t>.</a:t>
            </a:r>
            <a:endParaRPr>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b="1" lang="en">
                <a:latin typeface="Arial"/>
                <a:ea typeface="Arial"/>
                <a:cs typeface="Arial"/>
                <a:sym typeface="Arial"/>
              </a:rPr>
              <a:t>High Performance</a:t>
            </a:r>
            <a:r>
              <a:rPr lang="en">
                <a:latin typeface="Arial"/>
                <a:ea typeface="Arial"/>
                <a:cs typeface="Arial"/>
                <a:sym typeface="Arial"/>
              </a:rPr>
              <a:t> students account for around </a:t>
            </a:r>
            <a:r>
              <a:rPr b="1" lang="en">
                <a:latin typeface="Arial"/>
                <a:ea typeface="Arial"/>
                <a:cs typeface="Arial"/>
                <a:sym typeface="Arial"/>
              </a:rPr>
              <a:t>300 counts</a:t>
            </a:r>
            <a:r>
              <a:rPr lang="en">
                <a:latin typeface="Arial"/>
                <a:ea typeface="Arial"/>
                <a:cs typeface="Arial"/>
                <a:sym typeface="Arial"/>
              </a:rPr>
              <a:t>.</a:t>
            </a:r>
            <a:endParaRPr>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lang="en">
                <a:latin typeface="Arial"/>
                <a:ea typeface="Arial"/>
                <a:cs typeface="Arial"/>
                <a:sym typeface="Arial"/>
              </a:rPr>
              <a:t>The class imbalance indicates that the dataset is skewed, which may affect model performance.</a:t>
            </a:r>
            <a:endParaRPr>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lang="en">
                <a:latin typeface="Arial"/>
                <a:ea typeface="Arial"/>
                <a:cs typeface="Arial"/>
                <a:sym typeface="Arial"/>
              </a:rPr>
              <a:t>Addressing this imbalance (e.g., using techniques like SMOTE) can help improve classification results.</a:t>
            </a:r>
            <a:endParaRPr>
              <a:latin typeface="Arial"/>
              <a:ea typeface="Arial"/>
              <a:cs typeface="Arial"/>
              <a:sym typeface="Arial"/>
            </a:endParaRPr>
          </a:p>
          <a:p>
            <a:pPr indent="0" lvl="0" marL="0" rtl="0" algn="l">
              <a:spcBef>
                <a:spcPts val="1200"/>
              </a:spcBef>
              <a:spcAft>
                <a:spcPts val="1200"/>
              </a:spcAft>
              <a:buNone/>
            </a:pPr>
            <a:r>
              <a:t/>
            </a:r>
            <a:endParaRPr/>
          </a:p>
        </p:txBody>
      </p:sp>
      <p:sp>
        <p:nvSpPr>
          <p:cNvPr id="179" name="Google Shape;179;p20"/>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0" name="Google Shape;180;p20"/>
          <p:cNvPicPr preferRelativeResize="0"/>
          <p:nvPr/>
        </p:nvPicPr>
        <p:blipFill rotWithShape="1">
          <a:blip r:embed="rId3">
            <a:alphaModFix/>
          </a:blip>
          <a:srcRect b="0" l="0" r="0" t="-12637"/>
          <a:stretch/>
        </p:blipFill>
        <p:spPr>
          <a:xfrm>
            <a:off x="4177375" y="880975"/>
            <a:ext cx="4914900" cy="3701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txBox="1"/>
          <p:nvPr>
            <p:ph type="title"/>
          </p:nvPr>
        </p:nvSpPr>
        <p:spPr>
          <a:xfrm>
            <a:off x="2583575" y="67500"/>
            <a:ext cx="7038900" cy="9141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2000">
                <a:highlight>
                  <a:schemeClr val="dk1"/>
                </a:highlight>
                <a:latin typeface="Arial"/>
                <a:ea typeface="Arial"/>
                <a:cs typeface="Arial"/>
                <a:sym typeface="Arial"/>
              </a:rPr>
              <a:t>Exploratory Data Analysis </a:t>
            </a:r>
            <a:endParaRPr b="1" sz="2000">
              <a:highlight>
                <a:schemeClr val="dk1"/>
              </a:highlight>
              <a:latin typeface="Arial"/>
              <a:ea typeface="Arial"/>
              <a:cs typeface="Arial"/>
              <a:sym typeface="Arial"/>
            </a:endParaRPr>
          </a:p>
          <a:p>
            <a:pPr indent="0" lvl="0" marL="0" rtl="0" algn="l">
              <a:spcBef>
                <a:spcPts val="400"/>
              </a:spcBef>
              <a:spcAft>
                <a:spcPts val="0"/>
              </a:spcAft>
              <a:buNone/>
            </a:pPr>
            <a:r>
              <a:t/>
            </a:r>
            <a:endParaRPr sz="2700"/>
          </a:p>
        </p:txBody>
      </p:sp>
      <p:sp>
        <p:nvSpPr>
          <p:cNvPr id="186" name="Google Shape;186;p21"/>
          <p:cNvSpPr txBox="1"/>
          <p:nvPr>
            <p:ph idx="1" type="body"/>
          </p:nvPr>
        </p:nvSpPr>
        <p:spPr>
          <a:xfrm>
            <a:off x="556800" y="564050"/>
            <a:ext cx="3886800" cy="3914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440"/>
              <a:buNone/>
            </a:pPr>
            <a:r>
              <a:rPr lang="en" sz="1207">
                <a:latin typeface="Arial"/>
                <a:ea typeface="Arial"/>
                <a:cs typeface="Arial"/>
                <a:sym typeface="Arial"/>
              </a:rPr>
              <a:t>The heatmap shows the </a:t>
            </a:r>
            <a:r>
              <a:rPr b="1" lang="en" sz="1207">
                <a:latin typeface="Arial"/>
                <a:ea typeface="Arial"/>
                <a:cs typeface="Arial"/>
                <a:sym typeface="Arial"/>
              </a:rPr>
              <a:t>correlations</a:t>
            </a:r>
            <a:r>
              <a:rPr lang="en" sz="1207">
                <a:latin typeface="Arial"/>
                <a:ea typeface="Arial"/>
                <a:cs typeface="Arial"/>
                <a:sym typeface="Arial"/>
              </a:rPr>
              <a:t> between numerical features in the dataset.</a:t>
            </a:r>
            <a:endParaRPr sz="1207">
              <a:latin typeface="Arial"/>
              <a:ea typeface="Arial"/>
              <a:cs typeface="Arial"/>
              <a:sym typeface="Arial"/>
            </a:endParaRPr>
          </a:p>
          <a:p>
            <a:pPr indent="0" lvl="0" marL="0" rtl="0" algn="l">
              <a:lnSpc>
                <a:spcPct val="95000"/>
              </a:lnSpc>
              <a:spcBef>
                <a:spcPts val="1200"/>
              </a:spcBef>
              <a:spcAft>
                <a:spcPts val="0"/>
              </a:spcAft>
              <a:buSzPts val="440"/>
              <a:buNone/>
            </a:pPr>
            <a:r>
              <a:rPr b="1" lang="en" sz="1207">
                <a:latin typeface="Arial"/>
                <a:ea typeface="Arial"/>
                <a:cs typeface="Arial"/>
                <a:sym typeface="Arial"/>
              </a:rPr>
              <a:t>Strong positive correlations</a:t>
            </a:r>
            <a:r>
              <a:rPr lang="en" sz="1207">
                <a:latin typeface="Arial"/>
                <a:ea typeface="Arial"/>
                <a:cs typeface="Arial"/>
                <a:sym typeface="Arial"/>
              </a:rPr>
              <a:t>:</a:t>
            </a:r>
            <a:endParaRPr sz="1207">
              <a:latin typeface="Arial"/>
              <a:ea typeface="Arial"/>
              <a:cs typeface="Arial"/>
              <a:sym typeface="Arial"/>
            </a:endParaRPr>
          </a:p>
          <a:p>
            <a:pPr indent="-305250" lvl="0" marL="457200" rtl="0" algn="l">
              <a:lnSpc>
                <a:spcPct val="95000"/>
              </a:lnSpc>
              <a:spcBef>
                <a:spcPts val="1200"/>
              </a:spcBef>
              <a:spcAft>
                <a:spcPts val="0"/>
              </a:spcAft>
              <a:buClr>
                <a:schemeClr val="lt1"/>
              </a:buClr>
              <a:buSzPts val="1207"/>
              <a:buFont typeface="Arial"/>
              <a:buChar char="●"/>
            </a:pPr>
            <a:r>
              <a:rPr lang="en" sz="1207">
                <a:latin typeface="Arial"/>
                <a:ea typeface="Arial"/>
                <a:cs typeface="Arial"/>
                <a:sym typeface="Arial"/>
              </a:rPr>
              <a:t>Math, reading, and writing scores are </a:t>
            </a:r>
            <a:r>
              <a:rPr b="1" lang="en" sz="1207">
                <a:latin typeface="Arial"/>
                <a:ea typeface="Arial"/>
                <a:cs typeface="Arial"/>
                <a:sym typeface="Arial"/>
              </a:rPr>
              <a:t>highly correlated</a:t>
            </a:r>
            <a:r>
              <a:rPr lang="en" sz="1207">
                <a:latin typeface="Arial"/>
                <a:ea typeface="Arial"/>
                <a:cs typeface="Arial"/>
                <a:sym typeface="Arial"/>
              </a:rPr>
              <a:t> with each other (values around </a:t>
            </a:r>
            <a:r>
              <a:rPr b="1" lang="en" sz="1207">
                <a:latin typeface="Arial"/>
                <a:ea typeface="Arial"/>
                <a:cs typeface="Arial"/>
                <a:sym typeface="Arial"/>
              </a:rPr>
              <a:t>0.8-0.95</a:t>
            </a:r>
            <a:r>
              <a:rPr lang="en" sz="1207">
                <a:latin typeface="Arial"/>
                <a:ea typeface="Arial"/>
                <a:cs typeface="Arial"/>
                <a:sym typeface="Arial"/>
              </a:rPr>
              <a:t>).</a:t>
            </a:r>
            <a:endParaRPr sz="1207">
              <a:latin typeface="Arial"/>
              <a:ea typeface="Arial"/>
              <a:cs typeface="Arial"/>
              <a:sym typeface="Arial"/>
            </a:endParaRPr>
          </a:p>
          <a:p>
            <a:pPr indent="-305250" lvl="0" marL="457200" rtl="0" algn="l">
              <a:lnSpc>
                <a:spcPct val="95000"/>
              </a:lnSpc>
              <a:spcBef>
                <a:spcPts val="0"/>
              </a:spcBef>
              <a:spcAft>
                <a:spcPts val="0"/>
              </a:spcAft>
              <a:buClr>
                <a:schemeClr val="lt1"/>
              </a:buClr>
              <a:buSzPts val="1207"/>
              <a:buFont typeface="Arial"/>
              <a:buChar char="●"/>
            </a:pPr>
            <a:r>
              <a:rPr lang="en" sz="1207">
                <a:latin typeface="Arial"/>
                <a:ea typeface="Arial"/>
                <a:cs typeface="Arial"/>
                <a:sym typeface="Arial"/>
              </a:rPr>
              <a:t>Total score and average score are strongly correlated with all subject scores (</a:t>
            </a:r>
            <a:r>
              <a:rPr b="1" lang="en" sz="1207">
                <a:latin typeface="Arial"/>
                <a:ea typeface="Arial"/>
                <a:cs typeface="Arial"/>
                <a:sym typeface="Arial"/>
              </a:rPr>
              <a:t>0.92-1.0</a:t>
            </a:r>
            <a:r>
              <a:rPr lang="en" sz="1207">
                <a:latin typeface="Arial"/>
                <a:ea typeface="Arial"/>
                <a:cs typeface="Arial"/>
                <a:sym typeface="Arial"/>
              </a:rPr>
              <a:t>).</a:t>
            </a:r>
            <a:endParaRPr sz="1207">
              <a:latin typeface="Arial"/>
              <a:ea typeface="Arial"/>
              <a:cs typeface="Arial"/>
              <a:sym typeface="Arial"/>
            </a:endParaRPr>
          </a:p>
          <a:p>
            <a:pPr indent="0" lvl="0" marL="0" rtl="0" algn="l">
              <a:lnSpc>
                <a:spcPct val="95000"/>
              </a:lnSpc>
              <a:spcBef>
                <a:spcPts val="1200"/>
              </a:spcBef>
              <a:spcAft>
                <a:spcPts val="0"/>
              </a:spcAft>
              <a:buSzPts val="440"/>
              <a:buNone/>
            </a:pPr>
            <a:r>
              <a:rPr b="1" lang="en" sz="1207">
                <a:latin typeface="Arial"/>
                <a:ea typeface="Arial"/>
                <a:cs typeface="Arial"/>
                <a:sym typeface="Arial"/>
              </a:rPr>
              <a:t>Low/Negligible correlations</a:t>
            </a:r>
            <a:r>
              <a:rPr lang="en" sz="1207">
                <a:latin typeface="Arial"/>
                <a:ea typeface="Arial"/>
                <a:cs typeface="Arial"/>
                <a:sym typeface="Arial"/>
              </a:rPr>
              <a:t>:</a:t>
            </a:r>
            <a:endParaRPr sz="1207">
              <a:latin typeface="Arial"/>
              <a:ea typeface="Arial"/>
              <a:cs typeface="Arial"/>
              <a:sym typeface="Arial"/>
            </a:endParaRPr>
          </a:p>
          <a:p>
            <a:pPr indent="-305250" lvl="0" marL="457200" rtl="0" algn="l">
              <a:lnSpc>
                <a:spcPct val="95000"/>
              </a:lnSpc>
              <a:spcBef>
                <a:spcPts val="1200"/>
              </a:spcBef>
              <a:spcAft>
                <a:spcPts val="0"/>
              </a:spcAft>
              <a:buClr>
                <a:schemeClr val="lt1"/>
              </a:buClr>
              <a:buSzPts val="1207"/>
              <a:buFont typeface="Arial"/>
              <a:buChar char="●"/>
            </a:pPr>
            <a:r>
              <a:rPr lang="en" sz="1207">
                <a:latin typeface="Arial"/>
                <a:ea typeface="Arial"/>
                <a:cs typeface="Arial"/>
                <a:sym typeface="Arial"/>
              </a:rPr>
              <a:t>Gender and lunch type show weak or negative correlations with scores (values between </a:t>
            </a:r>
            <a:r>
              <a:rPr b="1" lang="en" sz="1207">
                <a:latin typeface="Arial"/>
                <a:ea typeface="Arial"/>
                <a:cs typeface="Arial"/>
                <a:sym typeface="Arial"/>
              </a:rPr>
              <a:t>-0.3 and 0.3</a:t>
            </a:r>
            <a:r>
              <a:rPr lang="en" sz="1207">
                <a:latin typeface="Arial"/>
                <a:ea typeface="Arial"/>
                <a:cs typeface="Arial"/>
                <a:sym typeface="Arial"/>
              </a:rPr>
              <a:t>).</a:t>
            </a:r>
            <a:endParaRPr sz="1207">
              <a:latin typeface="Arial"/>
              <a:ea typeface="Arial"/>
              <a:cs typeface="Arial"/>
              <a:sym typeface="Arial"/>
            </a:endParaRPr>
          </a:p>
          <a:p>
            <a:pPr indent="0" lvl="0" marL="0" rtl="0" algn="l">
              <a:lnSpc>
                <a:spcPct val="95000"/>
              </a:lnSpc>
              <a:spcBef>
                <a:spcPts val="1200"/>
              </a:spcBef>
              <a:spcAft>
                <a:spcPts val="0"/>
              </a:spcAft>
              <a:buSzPts val="440"/>
              <a:buNone/>
            </a:pPr>
            <a:r>
              <a:rPr b="1" lang="en" sz="1207">
                <a:latin typeface="Arial"/>
                <a:ea typeface="Arial"/>
                <a:cs typeface="Arial"/>
                <a:sym typeface="Arial"/>
              </a:rPr>
              <a:t>Insight</a:t>
            </a:r>
            <a:r>
              <a:rPr lang="en" sz="1207">
                <a:latin typeface="Arial"/>
                <a:ea typeface="Arial"/>
                <a:cs typeface="Arial"/>
                <a:sym typeface="Arial"/>
              </a:rPr>
              <a:t>:</a:t>
            </a:r>
            <a:endParaRPr sz="1207">
              <a:latin typeface="Arial"/>
              <a:ea typeface="Arial"/>
              <a:cs typeface="Arial"/>
              <a:sym typeface="Arial"/>
            </a:endParaRPr>
          </a:p>
          <a:p>
            <a:pPr indent="-305250" lvl="0" marL="457200" rtl="0" algn="l">
              <a:lnSpc>
                <a:spcPct val="95000"/>
              </a:lnSpc>
              <a:spcBef>
                <a:spcPts val="1200"/>
              </a:spcBef>
              <a:spcAft>
                <a:spcPts val="0"/>
              </a:spcAft>
              <a:buClr>
                <a:schemeClr val="lt1"/>
              </a:buClr>
              <a:buSzPts val="1207"/>
              <a:buFont typeface="Arial"/>
              <a:buChar char="●"/>
            </a:pPr>
            <a:r>
              <a:rPr lang="en" sz="1207">
                <a:latin typeface="Arial"/>
                <a:ea typeface="Arial"/>
                <a:cs typeface="Arial"/>
                <a:sym typeface="Arial"/>
              </a:rPr>
              <a:t>The strong correlation among subject scores indicates that any one score could represent overall performance.</a:t>
            </a:r>
            <a:endParaRPr sz="1207">
              <a:latin typeface="Arial"/>
              <a:ea typeface="Arial"/>
              <a:cs typeface="Arial"/>
              <a:sym typeface="Arial"/>
            </a:endParaRPr>
          </a:p>
          <a:p>
            <a:pPr indent="-305250" lvl="0" marL="457200" rtl="0" algn="l">
              <a:lnSpc>
                <a:spcPct val="95000"/>
              </a:lnSpc>
              <a:spcBef>
                <a:spcPts val="0"/>
              </a:spcBef>
              <a:spcAft>
                <a:spcPts val="0"/>
              </a:spcAft>
              <a:buClr>
                <a:schemeClr val="lt1"/>
              </a:buClr>
              <a:buSzPts val="1207"/>
              <a:buFont typeface="Arial"/>
              <a:buChar char="●"/>
            </a:pPr>
            <a:r>
              <a:rPr lang="en" sz="1207">
                <a:latin typeface="Arial"/>
                <a:ea typeface="Arial"/>
                <a:cs typeface="Arial"/>
                <a:sym typeface="Arial"/>
              </a:rPr>
              <a:t>Weak correlations for categorical variables suggest minimal direct impact on numerical scores.</a:t>
            </a:r>
            <a:endParaRPr sz="1207">
              <a:latin typeface="Arial"/>
              <a:ea typeface="Arial"/>
              <a:cs typeface="Arial"/>
              <a:sym typeface="Arial"/>
            </a:endParaRPr>
          </a:p>
          <a:p>
            <a:pPr indent="0" lvl="0" marL="0" rtl="0" algn="l">
              <a:lnSpc>
                <a:spcPct val="95000"/>
              </a:lnSpc>
              <a:spcBef>
                <a:spcPts val="1200"/>
              </a:spcBef>
              <a:spcAft>
                <a:spcPts val="1200"/>
              </a:spcAft>
              <a:buSzPts val="440"/>
              <a:buNone/>
            </a:pPr>
            <a:r>
              <a:t/>
            </a:r>
            <a:endParaRPr sz="720"/>
          </a:p>
        </p:txBody>
      </p:sp>
      <p:sp>
        <p:nvSpPr>
          <p:cNvPr id="187" name="Google Shape;187;p21"/>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8" name="Google Shape;188;p21"/>
          <p:cNvPicPr preferRelativeResize="0"/>
          <p:nvPr/>
        </p:nvPicPr>
        <p:blipFill>
          <a:blip r:embed="rId3">
            <a:alphaModFix/>
          </a:blip>
          <a:stretch>
            <a:fillRect/>
          </a:stretch>
        </p:blipFill>
        <p:spPr>
          <a:xfrm>
            <a:off x="4443650" y="829450"/>
            <a:ext cx="4700350" cy="4314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1841225" y="143650"/>
            <a:ext cx="5316300" cy="1426500"/>
          </a:xfrm>
          <a:prstGeom prst="rect">
            <a:avLst/>
          </a:prstGeom>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lt1"/>
              </a:buClr>
              <a:buSzPts val="990"/>
              <a:buFont typeface="Twentieth Century"/>
              <a:buNone/>
            </a:pPr>
            <a:r>
              <a:rPr b="1" lang="en" sz="2920">
                <a:latin typeface="Twentieth Century"/>
                <a:ea typeface="Twentieth Century"/>
                <a:cs typeface="Twentieth Century"/>
                <a:sym typeface="Twentieth Century"/>
              </a:rPr>
              <a:t>PREPARING THE DATASET </a:t>
            </a:r>
            <a:endParaRPr b="1" sz="1920">
              <a:latin typeface="Twentieth Century"/>
              <a:ea typeface="Twentieth Century"/>
              <a:cs typeface="Twentieth Century"/>
              <a:sym typeface="Twentieth Century"/>
            </a:endParaRPr>
          </a:p>
          <a:p>
            <a:pPr indent="0" lvl="0" marL="0" rtl="0" algn="l">
              <a:spcBef>
                <a:spcPts val="0"/>
              </a:spcBef>
              <a:spcAft>
                <a:spcPts val="0"/>
              </a:spcAft>
              <a:buSzPts val="990"/>
              <a:buNone/>
            </a:pPr>
            <a:r>
              <a:t/>
            </a:r>
            <a:endParaRPr sz="760"/>
          </a:p>
        </p:txBody>
      </p:sp>
      <p:sp>
        <p:nvSpPr>
          <p:cNvPr id="194" name="Google Shape;194;p22"/>
          <p:cNvSpPr txBox="1"/>
          <p:nvPr>
            <p:ph idx="1" type="body"/>
          </p:nvPr>
        </p:nvSpPr>
        <p:spPr>
          <a:xfrm>
            <a:off x="394950" y="1472375"/>
            <a:ext cx="3798900" cy="3077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100">
                <a:latin typeface="Arial"/>
                <a:ea typeface="Arial"/>
                <a:cs typeface="Arial"/>
                <a:sym typeface="Arial"/>
              </a:rPr>
              <a:t>Feature and Target Separation</a:t>
            </a:r>
            <a:r>
              <a:rPr lang="en" sz="1100">
                <a:latin typeface="Arial"/>
                <a:ea typeface="Arial"/>
                <a:cs typeface="Arial"/>
                <a:sym typeface="Arial"/>
              </a:rPr>
              <a:t>:</a:t>
            </a:r>
            <a:endParaRPr sz="1100">
              <a:latin typeface="Arial"/>
              <a:ea typeface="Arial"/>
              <a:cs typeface="Arial"/>
              <a:sym typeface="Arial"/>
            </a:endParaRPr>
          </a:p>
          <a:p>
            <a:pPr indent="-298450" lvl="0" marL="457200" rtl="0" algn="l">
              <a:spcBef>
                <a:spcPts val="1200"/>
              </a:spcBef>
              <a:spcAft>
                <a:spcPts val="0"/>
              </a:spcAft>
              <a:buClr>
                <a:schemeClr val="lt1"/>
              </a:buClr>
              <a:buSzPts val="1100"/>
              <a:buFont typeface="Arial"/>
              <a:buChar char="●"/>
            </a:pPr>
            <a:r>
              <a:rPr lang="en" sz="1100">
                <a:latin typeface="Arial"/>
                <a:ea typeface="Arial"/>
                <a:cs typeface="Arial"/>
                <a:sym typeface="Arial"/>
              </a:rPr>
              <a:t>Features: Excluded </a:t>
            </a:r>
            <a:r>
              <a:rPr lang="en" sz="1100">
                <a:latin typeface="Roboto Mono"/>
                <a:ea typeface="Roboto Mono"/>
                <a:cs typeface="Roboto Mono"/>
                <a:sym typeface="Roboto Mono"/>
              </a:rPr>
              <a:t>'average_score'</a:t>
            </a:r>
            <a:r>
              <a:rPr lang="en" sz="1100">
                <a:latin typeface="Arial"/>
                <a:ea typeface="Arial"/>
                <a:cs typeface="Arial"/>
                <a:sym typeface="Arial"/>
              </a:rPr>
              <a:t> and </a:t>
            </a:r>
            <a:r>
              <a:rPr lang="en" sz="1100">
                <a:latin typeface="Roboto Mono"/>
                <a:ea typeface="Roboto Mono"/>
                <a:cs typeface="Roboto Mono"/>
                <a:sym typeface="Roboto Mono"/>
              </a:rPr>
              <a:t>'Performance'</a:t>
            </a:r>
            <a:r>
              <a:rPr lang="en" sz="1100">
                <a:latin typeface="Arial"/>
                <a:ea typeface="Arial"/>
                <a:cs typeface="Arial"/>
                <a:sym typeface="Arial"/>
              </a:rPr>
              <a:t>.</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lang="en" sz="1100">
                <a:latin typeface="Arial"/>
                <a:ea typeface="Arial"/>
                <a:cs typeface="Arial"/>
                <a:sym typeface="Arial"/>
              </a:rPr>
              <a:t>Target: </a:t>
            </a:r>
            <a:r>
              <a:rPr lang="en" sz="1100">
                <a:latin typeface="Roboto Mono"/>
                <a:ea typeface="Roboto Mono"/>
                <a:cs typeface="Roboto Mono"/>
                <a:sym typeface="Roboto Mono"/>
              </a:rPr>
              <a:t>'Performance'</a:t>
            </a:r>
            <a:r>
              <a:rPr lang="en" sz="1100">
                <a:latin typeface="Arial"/>
                <a:ea typeface="Arial"/>
                <a:cs typeface="Arial"/>
                <a:sym typeface="Arial"/>
              </a:rPr>
              <a:t>.</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Encoding</a:t>
            </a:r>
            <a:r>
              <a:rPr lang="en" sz="1100">
                <a:latin typeface="Arial"/>
                <a:ea typeface="Arial"/>
                <a:cs typeface="Arial"/>
                <a:sym typeface="Arial"/>
              </a:rPr>
              <a:t>:</a:t>
            </a:r>
            <a:endParaRPr sz="1100">
              <a:latin typeface="Arial"/>
              <a:ea typeface="Arial"/>
              <a:cs typeface="Arial"/>
              <a:sym typeface="Arial"/>
            </a:endParaRPr>
          </a:p>
          <a:p>
            <a:pPr indent="-298450" lvl="0" marL="457200" rtl="0" algn="l">
              <a:spcBef>
                <a:spcPts val="1200"/>
              </a:spcBef>
              <a:spcAft>
                <a:spcPts val="0"/>
              </a:spcAft>
              <a:buClr>
                <a:schemeClr val="lt1"/>
              </a:buClr>
              <a:buSzPts val="1100"/>
              <a:buFont typeface="Arial"/>
              <a:buChar char="●"/>
            </a:pPr>
            <a:r>
              <a:rPr lang="en" sz="1100">
                <a:latin typeface="Arial"/>
                <a:ea typeface="Arial"/>
                <a:cs typeface="Arial"/>
                <a:sym typeface="Arial"/>
              </a:rPr>
              <a:t>Categorical variables encoded using </a:t>
            </a:r>
            <a:r>
              <a:rPr b="1" lang="en" sz="1100">
                <a:latin typeface="Arial"/>
                <a:ea typeface="Arial"/>
                <a:cs typeface="Arial"/>
                <a:sym typeface="Arial"/>
              </a:rPr>
              <a:t>OneHotEncoder</a:t>
            </a:r>
            <a:r>
              <a:rPr lang="en" sz="1100">
                <a:latin typeface="Arial"/>
                <a:ea typeface="Arial"/>
                <a:cs typeface="Arial"/>
                <a:sym typeface="Arial"/>
              </a:rPr>
              <a:t> (avoided multicollinearity).</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Combining and Standardization</a:t>
            </a:r>
            <a:r>
              <a:rPr lang="en" sz="1100">
                <a:latin typeface="Arial"/>
                <a:ea typeface="Arial"/>
                <a:cs typeface="Arial"/>
                <a:sym typeface="Arial"/>
              </a:rPr>
              <a:t>:</a:t>
            </a:r>
            <a:endParaRPr sz="1100">
              <a:latin typeface="Arial"/>
              <a:ea typeface="Arial"/>
              <a:cs typeface="Arial"/>
              <a:sym typeface="Arial"/>
            </a:endParaRPr>
          </a:p>
          <a:p>
            <a:pPr indent="-298450" lvl="0" marL="457200" rtl="0" algn="l">
              <a:spcBef>
                <a:spcPts val="1200"/>
              </a:spcBef>
              <a:spcAft>
                <a:spcPts val="0"/>
              </a:spcAft>
              <a:buClr>
                <a:schemeClr val="lt1"/>
              </a:buClr>
              <a:buSzPts val="1100"/>
              <a:buFont typeface="Arial"/>
              <a:buChar char="●"/>
            </a:pPr>
            <a:r>
              <a:rPr lang="en" sz="1100">
                <a:latin typeface="Arial"/>
                <a:ea typeface="Arial"/>
                <a:cs typeface="Arial"/>
                <a:sym typeface="Arial"/>
              </a:rPr>
              <a:t>Combined numerical and encoded features.</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lang="en" sz="1100">
                <a:latin typeface="Arial"/>
                <a:ea typeface="Arial"/>
                <a:cs typeface="Arial"/>
                <a:sym typeface="Arial"/>
              </a:rPr>
              <a:t>Scaled features using </a:t>
            </a:r>
            <a:r>
              <a:rPr b="1" lang="en" sz="1100">
                <a:latin typeface="Arial"/>
                <a:ea typeface="Arial"/>
                <a:cs typeface="Arial"/>
                <a:sym typeface="Arial"/>
              </a:rPr>
              <a:t>StandardScaler</a:t>
            </a:r>
            <a:r>
              <a:rPr lang="en" sz="1100">
                <a:latin typeface="Arial"/>
                <a:ea typeface="Arial"/>
                <a:cs typeface="Arial"/>
                <a:sym typeface="Arial"/>
              </a:rPr>
              <a:t>.</a:t>
            </a:r>
            <a:endParaRPr sz="1100">
              <a:latin typeface="Arial"/>
              <a:ea typeface="Arial"/>
              <a:cs typeface="Arial"/>
              <a:sym typeface="Arial"/>
            </a:endParaRPr>
          </a:p>
          <a:p>
            <a:pPr indent="0" lvl="0" marL="0" rtl="0" algn="l">
              <a:spcBef>
                <a:spcPts val="1200"/>
              </a:spcBef>
              <a:spcAft>
                <a:spcPts val="1200"/>
              </a:spcAft>
              <a:buNone/>
            </a:pPr>
            <a:r>
              <a:t/>
            </a:r>
            <a:endParaRPr/>
          </a:p>
        </p:txBody>
      </p:sp>
      <p:pic>
        <p:nvPicPr>
          <p:cNvPr id="195" name="Google Shape;195;p22"/>
          <p:cNvPicPr preferRelativeResize="0"/>
          <p:nvPr/>
        </p:nvPicPr>
        <p:blipFill>
          <a:blip r:embed="rId3">
            <a:alphaModFix/>
          </a:blip>
          <a:stretch>
            <a:fillRect/>
          </a:stretch>
        </p:blipFill>
        <p:spPr>
          <a:xfrm>
            <a:off x="4389600" y="1091775"/>
            <a:ext cx="6076950" cy="4051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type="title"/>
          </p:nvPr>
        </p:nvSpPr>
        <p:spPr>
          <a:xfrm>
            <a:off x="2637950" y="154500"/>
            <a:ext cx="7038900" cy="914100"/>
          </a:xfrm>
          <a:prstGeom prst="rect">
            <a:avLst/>
          </a:prstGeom>
        </p:spPr>
        <p:txBody>
          <a:bodyPr anchorCtr="0" anchor="t" bIns="91425" lIns="91425" spcFirstLastPara="1" rIns="91425" wrap="square" tIns="91425">
            <a:normAutofit fontScale="90000"/>
          </a:bodyPr>
          <a:lstStyle/>
          <a:p>
            <a:pPr indent="0" lvl="0" marL="0" rtl="0" algn="l">
              <a:lnSpc>
                <a:spcPct val="200000"/>
              </a:lnSpc>
              <a:spcBef>
                <a:spcPts val="1800"/>
              </a:spcBef>
              <a:spcAft>
                <a:spcPts val="0"/>
              </a:spcAft>
              <a:buNone/>
            </a:pPr>
            <a:r>
              <a:rPr b="1" lang="en" sz="2477">
                <a:latin typeface="Arial"/>
                <a:ea typeface="Arial"/>
                <a:cs typeface="Arial"/>
                <a:sym typeface="Arial"/>
              </a:rPr>
              <a:t>Testing K-NN with Different K Values</a:t>
            </a:r>
            <a:endParaRPr b="1" sz="2477">
              <a:latin typeface="Arial"/>
              <a:ea typeface="Arial"/>
              <a:cs typeface="Arial"/>
              <a:sym typeface="Arial"/>
            </a:endParaRPr>
          </a:p>
          <a:p>
            <a:pPr indent="0" lvl="0" marL="0" rtl="0" algn="l">
              <a:spcBef>
                <a:spcPts val="400"/>
              </a:spcBef>
              <a:spcAft>
                <a:spcPts val="0"/>
              </a:spcAft>
              <a:buNone/>
            </a:pPr>
            <a:r>
              <a:t/>
            </a:r>
            <a:endParaRPr/>
          </a:p>
        </p:txBody>
      </p:sp>
      <p:pic>
        <p:nvPicPr>
          <p:cNvPr id="201" name="Google Shape;201;p23"/>
          <p:cNvPicPr preferRelativeResize="0"/>
          <p:nvPr/>
        </p:nvPicPr>
        <p:blipFill>
          <a:blip r:embed="rId3">
            <a:alphaModFix/>
          </a:blip>
          <a:stretch>
            <a:fillRect/>
          </a:stretch>
        </p:blipFill>
        <p:spPr>
          <a:xfrm>
            <a:off x="1979275" y="757000"/>
            <a:ext cx="5876925" cy="3962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24"/>
          <p:cNvPicPr preferRelativeResize="0"/>
          <p:nvPr/>
        </p:nvPicPr>
        <p:blipFill>
          <a:blip r:embed="rId3">
            <a:alphaModFix/>
          </a:blip>
          <a:stretch>
            <a:fillRect/>
          </a:stretch>
        </p:blipFill>
        <p:spPr>
          <a:xfrm>
            <a:off x="634100" y="212050"/>
            <a:ext cx="6806026" cy="44173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idx="1" type="body"/>
          </p:nvPr>
        </p:nvSpPr>
        <p:spPr>
          <a:xfrm>
            <a:off x="208800" y="1200575"/>
            <a:ext cx="3959100" cy="4104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100">
                <a:latin typeface="Arial"/>
                <a:ea typeface="Arial"/>
                <a:cs typeface="Arial"/>
                <a:sym typeface="Arial"/>
              </a:rPr>
              <a:t>Objective</a:t>
            </a:r>
            <a:r>
              <a:rPr lang="en" sz="1100">
                <a:latin typeface="Arial"/>
                <a:ea typeface="Arial"/>
                <a:cs typeface="Arial"/>
                <a:sym typeface="Arial"/>
              </a:rPr>
              <a:t>: Test the K-NN model with </a:t>
            </a:r>
            <a:r>
              <a:rPr b="1" lang="en" sz="1100">
                <a:latin typeface="Arial"/>
                <a:ea typeface="Arial"/>
                <a:cs typeface="Arial"/>
                <a:sym typeface="Arial"/>
              </a:rPr>
              <a:t>K = 3, 5, 7</a:t>
            </a:r>
            <a:r>
              <a:rPr lang="en" sz="1100">
                <a:latin typeface="Arial"/>
                <a:ea typeface="Arial"/>
                <a:cs typeface="Arial"/>
                <a:sym typeface="Arial"/>
              </a:rPr>
              <a:t> to identify the best-performing value.</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Steps</a:t>
            </a:r>
            <a:r>
              <a:rPr lang="en" sz="1100">
                <a:latin typeface="Arial"/>
                <a:ea typeface="Arial"/>
                <a:cs typeface="Arial"/>
                <a:sym typeface="Arial"/>
              </a:rPr>
              <a:t>:</a:t>
            </a:r>
            <a:endParaRPr sz="1100">
              <a:latin typeface="Arial"/>
              <a:ea typeface="Arial"/>
              <a:cs typeface="Arial"/>
              <a:sym typeface="Arial"/>
            </a:endParaRPr>
          </a:p>
          <a:p>
            <a:pPr indent="-298450" lvl="0" marL="457200" rtl="0" algn="l">
              <a:spcBef>
                <a:spcPts val="1200"/>
              </a:spcBef>
              <a:spcAft>
                <a:spcPts val="0"/>
              </a:spcAft>
              <a:buClr>
                <a:schemeClr val="lt1"/>
              </a:buClr>
              <a:buSzPts val="1100"/>
              <a:buFont typeface="Arial"/>
              <a:buChar char="●"/>
            </a:pPr>
            <a:r>
              <a:rPr lang="en" sz="1100">
                <a:latin typeface="Arial"/>
                <a:ea typeface="Arial"/>
                <a:cs typeface="Arial"/>
                <a:sym typeface="Arial"/>
              </a:rPr>
              <a:t>Initialized the K-NN model for each K value.</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lang="en" sz="1100">
                <a:latin typeface="Arial"/>
                <a:ea typeface="Arial"/>
                <a:cs typeface="Arial"/>
                <a:sym typeface="Arial"/>
              </a:rPr>
              <a:t>Trained the model using the </a:t>
            </a:r>
            <a:r>
              <a:rPr b="1" lang="en" sz="1100">
                <a:latin typeface="Arial"/>
                <a:ea typeface="Arial"/>
                <a:cs typeface="Arial"/>
                <a:sym typeface="Arial"/>
              </a:rPr>
              <a:t>training dataset</a:t>
            </a:r>
            <a:r>
              <a:rPr lang="en" sz="1100">
                <a:latin typeface="Arial"/>
                <a:ea typeface="Arial"/>
                <a:cs typeface="Arial"/>
                <a:sym typeface="Arial"/>
              </a:rPr>
              <a:t>.</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lang="en" sz="1100">
                <a:latin typeface="Arial"/>
                <a:ea typeface="Arial"/>
                <a:cs typeface="Arial"/>
                <a:sym typeface="Arial"/>
              </a:rPr>
              <a:t>Made predictions on </a:t>
            </a:r>
            <a:r>
              <a:rPr b="1" lang="en" sz="1100">
                <a:latin typeface="Arial"/>
                <a:ea typeface="Arial"/>
                <a:cs typeface="Arial"/>
                <a:sym typeface="Arial"/>
              </a:rPr>
              <a:t>training and testing datasets</a:t>
            </a:r>
            <a:r>
              <a:rPr lang="en" sz="1100">
                <a:latin typeface="Arial"/>
                <a:ea typeface="Arial"/>
                <a:cs typeface="Arial"/>
                <a:sym typeface="Arial"/>
              </a:rPr>
              <a:t>.</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lang="en" sz="1100">
                <a:latin typeface="Arial"/>
                <a:ea typeface="Arial"/>
                <a:cs typeface="Arial"/>
                <a:sym typeface="Arial"/>
              </a:rPr>
              <a:t>Calculated </a:t>
            </a:r>
            <a:r>
              <a:rPr b="1" lang="en" sz="1100">
                <a:latin typeface="Arial"/>
                <a:ea typeface="Arial"/>
                <a:cs typeface="Arial"/>
                <a:sym typeface="Arial"/>
              </a:rPr>
              <a:t>training accuracy</a:t>
            </a:r>
            <a:r>
              <a:rPr lang="en" sz="1100">
                <a:latin typeface="Arial"/>
                <a:ea typeface="Arial"/>
                <a:cs typeface="Arial"/>
                <a:sym typeface="Arial"/>
              </a:rPr>
              <a:t> and </a:t>
            </a:r>
            <a:r>
              <a:rPr b="1" lang="en" sz="1100">
                <a:latin typeface="Arial"/>
                <a:ea typeface="Arial"/>
                <a:cs typeface="Arial"/>
                <a:sym typeface="Arial"/>
              </a:rPr>
              <a:t>testing accuracy</a:t>
            </a:r>
            <a:r>
              <a:rPr lang="en" sz="1100">
                <a:latin typeface="Arial"/>
                <a:ea typeface="Arial"/>
                <a:cs typeface="Arial"/>
                <a:sym typeface="Arial"/>
              </a:rPr>
              <a:t>.</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Performance Metrics</a:t>
            </a:r>
            <a:r>
              <a:rPr lang="en" sz="1100">
                <a:latin typeface="Arial"/>
                <a:ea typeface="Arial"/>
                <a:cs typeface="Arial"/>
                <a:sym typeface="Arial"/>
              </a:rPr>
              <a:t>:</a:t>
            </a:r>
            <a:endParaRPr sz="1100">
              <a:latin typeface="Arial"/>
              <a:ea typeface="Arial"/>
              <a:cs typeface="Arial"/>
              <a:sym typeface="Arial"/>
            </a:endParaRPr>
          </a:p>
          <a:p>
            <a:pPr indent="-298450" lvl="0" marL="457200" rtl="0" algn="l">
              <a:spcBef>
                <a:spcPts val="1200"/>
              </a:spcBef>
              <a:spcAft>
                <a:spcPts val="0"/>
              </a:spcAft>
              <a:buClr>
                <a:schemeClr val="lt1"/>
              </a:buClr>
              <a:buSzPts val="1100"/>
              <a:buFont typeface="Arial"/>
              <a:buChar char="●"/>
            </a:pPr>
            <a:r>
              <a:rPr lang="en" sz="1100">
                <a:latin typeface="Arial"/>
                <a:ea typeface="Arial"/>
                <a:cs typeface="Arial"/>
                <a:sym typeface="Arial"/>
              </a:rPr>
              <a:t>Printed </a:t>
            </a:r>
            <a:r>
              <a:rPr b="1" lang="en" sz="1100">
                <a:latin typeface="Arial"/>
                <a:ea typeface="Arial"/>
                <a:cs typeface="Arial"/>
                <a:sym typeface="Arial"/>
              </a:rPr>
              <a:t>Confusion Matrix</a:t>
            </a:r>
            <a:r>
              <a:rPr lang="en" sz="1100">
                <a:latin typeface="Arial"/>
                <a:ea typeface="Arial"/>
                <a:cs typeface="Arial"/>
                <a:sym typeface="Arial"/>
              </a:rPr>
              <a:t> and </a:t>
            </a:r>
            <a:r>
              <a:rPr b="1" lang="en" sz="1100">
                <a:latin typeface="Arial"/>
                <a:ea typeface="Arial"/>
                <a:cs typeface="Arial"/>
                <a:sym typeface="Arial"/>
              </a:rPr>
              <a:t>Classification Report</a:t>
            </a:r>
            <a:r>
              <a:rPr lang="en" sz="1100">
                <a:latin typeface="Arial"/>
                <a:ea typeface="Arial"/>
                <a:cs typeface="Arial"/>
                <a:sym typeface="Arial"/>
              </a:rPr>
              <a:t> (precision, recall, F1-score).</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Results</a:t>
            </a:r>
            <a:r>
              <a:rPr lang="en" sz="1100">
                <a:latin typeface="Arial"/>
                <a:ea typeface="Arial"/>
                <a:cs typeface="Arial"/>
                <a:sym typeface="Arial"/>
              </a:rPr>
              <a:t>:</a:t>
            </a:r>
            <a:endParaRPr sz="1100">
              <a:latin typeface="Arial"/>
              <a:ea typeface="Arial"/>
              <a:cs typeface="Arial"/>
              <a:sym typeface="Arial"/>
            </a:endParaRPr>
          </a:p>
          <a:p>
            <a:pPr indent="-298450" lvl="0" marL="457200" rtl="0" algn="l">
              <a:spcBef>
                <a:spcPts val="1200"/>
              </a:spcBef>
              <a:spcAft>
                <a:spcPts val="0"/>
              </a:spcAft>
              <a:buClr>
                <a:schemeClr val="lt1"/>
              </a:buClr>
              <a:buSzPts val="1100"/>
              <a:buFont typeface="Arial"/>
              <a:buChar char="●"/>
            </a:pPr>
            <a:r>
              <a:rPr lang="en" sz="1100">
                <a:latin typeface="Arial"/>
                <a:ea typeface="Arial"/>
                <a:cs typeface="Arial"/>
                <a:sym typeface="Arial"/>
              </a:rPr>
              <a:t>Accuracy for each K value stored for easy comparison.</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lang="en" sz="1100">
                <a:latin typeface="Arial"/>
                <a:ea typeface="Arial"/>
                <a:cs typeface="Arial"/>
                <a:sym typeface="Arial"/>
              </a:rPr>
              <a:t>Analyzed the trade-off between overfitting (K=3) and generalization (K=5 or 7).</a:t>
            </a:r>
            <a:endParaRPr sz="1100">
              <a:latin typeface="Arial"/>
              <a:ea typeface="Arial"/>
              <a:cs typeface="Arial"/>
              <a:sym typeface="Arial"/>
            </a:endParaRPr>
          </a:p>
          <a:p>
            <a:pPr indent="0" lvl="0" marL="0" rtl="0" algn="l">
              <a:spcBef>
                <a:spcPts val="1200"/>
              </a:spcBef>
              <a:spcAft>
                <a:spcPts val="1200"/>
              </a:spcAft>
              <a:buNone/>
            </a:pPr>
            <a:r>
              <a:t/>
            </a:r>
            <a:endParaRPr/>
          </a:p>
        </p:txBody>
      </p:sp>
      <p:sp>
        <p:nvSpPr>
          <p:cNvPr id="212" name="Google Shape;212;p2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3" name="Google Shape;213;p25"/>
          <p:cNvPicPr preferRelativeResize="0"/>
          <p:nvPr/>
        </p:nvPicPr>
        <p:blipFill>
          <a:blip r:embed="rId3">
            <a:alphaModFix/>
          </a:blip>
          <a:stretch>
            <a:fillRect/>
          </a:stretch>
        </p:blipFill>
        <p:spPr>
          <a:xfrm>
            <a:off x="4219350" y="1399150"/>
            <a:ext cx="4841050" cy="3248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6"/>
          <p:cNvSpPr txBox="1"/>
          <p:nvPr>
            <p:ph type="title"/>
          </p:nvPr>
        </p:nvSpPr>
        <p:spPr>
          <a:xfrm>
            <a:off x="2743750" y="263250"/>
            <a:ext cx="7038900" cy="9141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None/>
            </a:pPr>
            <a:r>
              <a:rPr b="1" lang="en" sz="2300">
                <a:latin typeface="Arial"/>
                <a:ea typeface="Arial"/>
                <a:cs typeface="Arial"/>
                <a:sym typeface="Arial"/>
              </a:rPr>
              <a:t> Model Evaluation</a:t>
            </a:r>
            <a:endParaRPr sz="3000"/>
          </a:p>
        </p:txBody>
      </p:sp>
      <p:sp>
        <p:nvSpPr>
          <p:cNvPr id="219" name="Google Shape;219;p26"/>
          <p:cNvSpPr txBox="1"/>
          <p:nvPr>
            <p:ph idx="1" type="body"/>
          </p:nvPr>
        </p:nvSpPr>
        <p:spPr>
          <a:xfrm>
            <a:off x="79575" y="1295700"/>
            <a:ext cx="3403200" cy="2911200"/>
          </a:xfrm>
          <a:prstGeom prst="rect">
            <a:avLst/>
          </a:prstGeom>
        </p:spPr>
        <p:txBody>
          <a:bodyPr anchorCtr="0" anchor="t" bIns="91425" lIns="91425" spcFirstLastPara="1" rIns="91425" wrap="square" tIns="91425">
            <a:noAutofit/>
          </a:bodyPr>
          <a:lstStyle/>
          <a:p>
            <a:pPr indent="-311150" lvl="0" marL="457200" rtl="0" algn="l">
              <a:spcBef>
                <a:spcPts val="1200"/>
              </a:spcBef>
              <a:spcAft>
                <a:spcPts val="0"/>
              </a:spcAft>
              <a:buClr>
                <a:schemeClr val="lt1"/>
              </a:buClr>
              <a:buSzPts val="1300"/>
              <a:buFont typeface="Arial"/>
              <a:buChar char="●"/>
            </a:pPr>
            <a:r>
              <a:rPr lang="en">
                <a:latin typeface="Arial"/>
                <a:ea typeface="Arial"/>
                <a:cs typeface="Arial"/>
                <a:sym typeface="Arial"/>
              </a:rPr>
              <a:t>Created a </a:t>
            </a:r>
            <a:r>
              <a:rPr b="1" lang="en">
                <a:latin typeface="Arial"/>
                <a:ea typeface="Arial"/>
                <a:cs typeface="Arial"/>
                <a:sym typeface="Arial"/>
              </a:rPr>
              <a:t>DataFrame</a:t>
            </a:r>
            <a:r>
              <a:rPr lang="en">
                <a:latin typeface="Arial"/>
                <a:ea typeface="Arial"/>
                <a:cs typeface="Arial"/>
                <a:sym typeface="Arial"/>
              </a:rPr>
              <a:t> to display training and testing accuracy for K = 3, 5, 7.</a:t>
            </a:r>
            <a:endParaRPr>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b="1" lang="en">
                <a:latin typeface="Arial"/>
                <a:ea typeface="Arial"/>
                <a:cs typeface="Arial"/>
                <a:sym typeface="Arial"/>
              </a:rPr>
              <a:t>Plotted Accuracy</a:t>
            </a:r>
            <a:r>
              <a:rPr lang="en">
                <a:latin typeface="Arial"/>
                <a:ea typeface="Arial"/>
                <a:cs typeface="Arial"/>
                <a:sym typeface="Arial"/>
              </a:rPr>
              <a:t>: Train vs Test accuracy graph to visualize performance trends.</a:t>
            </a:r>
            <a:endParaRPr>
              <a:latin typeface="Arial"/>
              <a:ea typeface="Arial"/>
              <a:cs typeface="Arial"/>
              <a:sym typeface="Arial"/>
            </a:endParaRPr>
          </a:p>
          <a:p>
            <a:pPr indent="0" lvl="0" marL="0" rtl="0" algn="l">
              <a:spcBef>
                <a:spcPts val="1200"/>
              </a:spcBef>
              <a:spcAft>
                <a:spcPts val="0"/>
              </a:spcAft>
              <a:buNone/>
            </a:pPr>
            <a:r>
              <a:rPr b="1" lang="en">
                <a:latin typeface="Arial"/>
                <a:ea typeface="Arial"/>
                <a:cs typeface="Arial"/>
                <a:sym typeface="Arial"/>
              </a:rPr>
              <a:t>Graph Insights</a:t>
            </a:r>
            <a:r>
              <a:rPr lang="en">
                <a:latin typeface="Arial"/>
                <a:ea typeface="Arial"/>
                <a:cs typeface="Arial"/>
                <a:sym typeface="Arial"/>
              </a:rPr>
              <a:t>:</a:t>
            </a:r>
            <a:endParaRPr>
              <a:latin typeface="Arial"/>
              <a:ea typeface="Arial"/>
              <a:cs typeface="Arial"/>
              <a:sym typeface="Arial"/>
            </a:endParaRPr>
          </a:p>
          <a:p>
            <a:pPr indent="-311150" lvl="0" marL="457200" rtl="0" algn="l">
              <a:spcBef>
                <a:spcPts val="1200"/>
              </a:spcBef>
              <a:spcAft>
                <a:spcPts val="0"/>
              </a:spcAft>
              <a:buClr>
                <a:schemeClr val="lt1"/>
              </a:buClr>
              <a:buSzPts val="1300"/>
              <a:buFont typeface="Arial"/>
              <a:buChar char="●"/>
            </a:pPr>
            <a:r>
              <a:rPr lang="en">
                <a:latin typeface="Arial"/>
                <a:ea typeface="Arial"/>
                <a:cs typeface="Arial"/>
                <a:sym typeface="Arial"/>
              </a:rPr>
              <a:t>Train accuracy decreases slightly as </a:t>
            </a:r>
            <a:r>
              <a:rPr b="1" lang="en">
                <a:latin typeface="Arial"/>
                <a:ea typeface="Arial"/>
                <a:cs typeface="Arial"/>
                <a:sym typeface="Arial"/>
              </a:rPr>
              <a:t>K increases</a:t>
            </a:r>
            <a:r>
              <a:rPr lang="en">
                <a:latin typeface="Arial"/>
                <a:ea typeface="Arial"/>
                <a:cs typeface="Arial"/>
                <a:sym typeface="Arial"/>
              </a:rPr>
              <a:t>.</a:t>
            </a:r>
            <a:endParaRPr>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lang="en">
                <a:latin typeface="Arial"/>
                <a:ea typeface="Arial"/>
                <a:cs typeface="Arial"/>
                <a:sym typeface="Arial"/>
              </a:rPr>
              <a:t>Test accuracy peaks at </a:t>
            </a:r>
            <a:r>
              <a:rPr b="1" lang="en">
                <a:latin typeface="Arial"/>
                <a:ea typeface="Arial"/>
                <a:cs typeface="Arial"/>
                <a:sym typeface="Arial"/>
              </a:rPr>
              <a:t>K=3</a:t>
            </a:r>
            <a:r>
              <a:rPr lang="en">
                <a:latin typeface="Arial"/>
                <a:ea typeface="Arial"/>
                <a:cs typeface="Arial"/>
                <a:sym typeface="Arial"/>
              </a:rPr>
              <a:t>, showing it as the optimal value.</a:t>
            </a:r>
            <a:endParaRPr>
              <a:latin typeface="Arial"/>
              <a:ea typeface="Arial"/>
              <a:cs typeface="Arial"/>
              <a:sym typeface="Arial"/>
            </a:endParaRPr>
          </a:p>
          <a:p>
            <a:pPr indent="0" lvl="0" marL="0" rtl="0" algn="l">
              <a:spcBef>
                <a:spcPts val="1200"/>
              </a:spcBef>
              <a:spcAft>
                <a:spcPts val="1200"/>
              </a:spcAft>
              <a:buNone/>
            </a:pPr>
            <a:r>
              <a:t/>
            </a:r>
            <a:endParaRPr/>
          </a:p>
        </p:txBody>
      </p:sp>
      <p:pic>
        <p:nvPicPr>
          <p:cNvPr id="220" name="Google Shape;220;p26"/>
          <p:cNvPicPr preferRelativeResize="0"/>
          <p:nvPr/>
        </p:nvPicPr>
        <p:blipFill>
          <a:blip r:embed="rId3">
            <a:alphaModFix/>
          </a:blip>
          <a:stretch>
            <a:fillRect/>
          </a:stretch>
        </p:blipFill>
        <p:spPr>
          <a:xfrm>
            <a:off x="3699400" y="1177350"/>
            <a:ext cx="5444600" cy="2962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27"/>
          <p:cNvPicPr preferRelativeResize="0"/>
          <p:nvPr/>
        </p:nvPicPr>
        <p:blipFill>
          <a:blip r:embed="rId3">
            <a:alphaModFix/>
          </a:blip>
          <a:stretch>
            <a:fillRect/>
          </a:stretch>
        </p:blipFill>
        <p:spPr>
          <a:xfrm>
            <a:off x="1269475" y="131550"/>
            <a:ext cx="6182600" cy="4787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8"/>
          <p:cNvSpPr txBox="1"/>
          <p:nvPr>
            <p:ph type="title"/>
          </p:nvPr>
        </p:nvSpPr>
        <p:spPr>
          <a:xfrm>
            <a:off x="2428400" y="393750"/>
            <a:ext cx="5370600" cy="774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and Best K Value</a:t>
            </a:r>
            <a:endParaRPr/>
          </a:p>
        </p:txBody>
      </p:sp>
      <p:sp>
        <p:nvSpPr>
          <p:cNvPr id="231" name="Google Shape;231;p28"/>
          <p:cNvSpPr txBox="1"/>
          <p:nvPr>
            <p:ph idx="1" type="body"/>
          </p:nvPr>
        </p:nvSpPr>
        <p:spPr>
          <a:xfrm>
            <a:off x="1667225" y="1168050"/>
            <a:ext cx="6066600" cy="3274800"/>
          </a:xfrm>
          <a:prstGeom prst="rect">
            <a:avLst/>
          </a:prstGeom>
        </p:spPr>
        <p:txBody>
          <a:bodyPr anchorCtr="0" anchor="t" bIns="91425" lIns="91425" spcFirstLastPara="1" rIns="91425" wrap="square" tIns="91425">
            <a:noAutofit/>
          </a:bodyPr>
          <a:lstStyle/>
          <a:p>
            <a:pPr indent="-311150" lvl="0" marL="457200" rtl="0" algn="l">
              <a:spcBef>
                <a:spcPts val="1200"/>
              </a:spcBef>
              <a:spcAft>
                <a:spcPts val="0"/>
              </a:spcAft>
              <a:buClr>
                <a:schemeClr val="lt1"/>
              </a:buClr>
              <a:buSzPts val="1300"/>
              <a:buFont typeface="Arial"/>
              <a:buChar char="●"/>
            </a:pPr>
            <a:r>
              <a:rPr b="1" lang="en">
                <a:latin typeface="Arial"/>
                <a:ea typeface="Arial"/>
                <a:cs typeface="Arial"/>
                <a:sym typeface="Arial"/>
              </a:rPr>
              <a:t>Summary of Results</a:t>
            </a:r>
            <a:r>
              <a:rPr lang="en">
                <a:latin typeface="Arial"/>
                <a:ea typeface="Arial"/>
                <a:cs typeface="Arial"/>
                <a:sym typeface="Arial"/>
              </a:rPr>
              <a:t>:</a:t>
            </a:r>
            <a:endParaRPr>
              <a:latin typeface="Arial"/>
              <a:ea typeface="Arial"/>
              <a:cs typeface="Arial"/>
              <a:sym typeface="Arial"/>
            </a:endParaRPr>
          </a:p>
          <a:p>
            <a:pPr indent="-311150" lvl="1" marL="914400" rtl="0" algn="l">
              <a:spcBef>
                <a:spcPts val="0"/>
              </a:spcBef>
              <a:spcAft>
                <a:spcPts val="0"/>
              </a:spcAft>
              <a:buClr>
                <a:schemeClr val="lt1"/>
              </a:buClr>
              <a:buSzPts val="1300"/>
              <a:buFont typeface="Arial"/>
              <a:buChar char="○"/>
            </a:pPr>
            <a:r>
              <a:rPr lang="en" sz="1300">
                <a:latin typeface="Arial"/>
                <a:ea typeface="Arial"/>
                <a:cs typeface="Arial"/>
                <a:sym typeface="Arial"/>
              </a:rPr>
              <a:t>K = 3: Train Accuracy = </a:t>
            </a:r>
            <a:r>
              <a:rPr b="1" lang="en" sz="1300">
                <a:latin typeface="Arial"/>
                <a:ea typeface="Arial"/>
                <a:cs typeface="Arial"/>
                <a:sym typeface="Arial"/>
              </a:rPr>
              <a:t>95.9%</a:t>
            </a:r>
            <a:r>
              <a:rPr lang="en" sz="1300">
                <a:latin typeface="Arial"/>
                <a:ea typeface="Arial"/>
                <a:cs typeface="Arial"/>
                <a:sym typeface="Arial"/>
              </a:rPr>
              <a:t>, Test Accuracy = </a:t>
            </a:r>
            <a:r>
              <a:rPr b="1" lang="en" sz="1300">
                <a:latin typeface="Arial"/>
                <a:ea typeface="Arial"/>
                <a:cs typeface="Arial"/>
                <a:sym typeface="Arial"/>
              </a:rPr>
              <a:t>90.7%</a:t>
            </a:r>
            <a:endParaRPr b="1" sz="1300">
              <a:latin typeface="Arial"/>
              <a:ea typeface="Arial"/>
              <a:cs typeface="Arial"/>
              <a:sym typeface="Arial"/>
            </a:endParaRPr>
          </a:p>
          <a:p>
            <a:pPr indent="-311150" lvl="1" marL="914400" rtl="0" algn="l">
              <a:spcBef>
                <a:spcPts val="0"/>
              </a:spcBef>
              <a:spcAft>
                <a:spcPts val="0"/>
              </a:spcAft>
              <a:buClr>
                <a:schemeClr val="lt1"/>
              </a:buClr>
              <a:buSzPts val="1300"/>
              <a:buFont typeface="Arial"/>
              <a:buChar char="○"/>
            </a:pPr>
            <a:r>
              <a:rPr lang="en" sz="1300">
                <a:latin typeface="Arial"/>
                <a:ea typeface="Arial"/>
                <a:cs typeface="Arial"/>
                <a:sym typeface="Arial"/>
              </a:rPr>
              <a:t>K = 5: Train Accuracy = </a:t>
            </a:r>
            <a:r>
              <a:rPr b="1" lang="en" sz="1300">
                <a:latin typeface="Arial"/>
                <a:ea typeface="Arial"/>
                <a:cs typeface="Arial"/>
                <a:sym typeface="Arial"/>
              </a:rPr>
              <a:t>95.4%</a:t>
            </a:r>
            <a:r>
              <a:rPr lang="en" sz="1300">
                <a:latin typeface="Arial"/>
                <a:ea typeface="Arial"/>
                <a:cs typeface="Arial"/>
                <a:sym typeface="Arial"/>
              </a:rPr>
              <a:t>, Test Accuracy = </a:t>
            </a:r>
            <a:r>
              <a:rPr b="1" lang="en" sz="1300">
                <a:latin typeface="Arial"/>
                <a:ea typeface="Arial"/>
                <a:cs typeface="Arial"/>
                <a:sym typeface="Arial"/>
              </a:rPr>
              <a:t>88.0%</a:t>
            </a:r>
            <a:endParaRPr b="1" sz="1300">
              <a:latin typeface="Arial"/>
              <a:ea typeface="Arial"/>
              <a:cs typeface="Arial"/>
              <a:sym typeface="Arial"/>
            </a:endParaRPr>
          </a:p>
          <a:p>
            <a:pPr indent="-311150" lvl="1" marL="914400" rtl="0" algn="l">
              <a:spcBef>
                <a:spcPts val="0"/>
              </a:spcBef>
              <a:spcAft>
                <a:spcPts val="0"/>
              </a:spcAft>
              <a:buClr>
                <a:schemeClr val="lt1"/>
              </a:buClr>
              <a:buSzPts val="1300"/>
              <a:buFont typeface="Arial"/>
              <a:buChar char="○"/>
            </a:pPr>
            <a:r>
              <a:rPr lang="en" sz="1300">
                <a:latin typeface="Arial"/>
                <a:ea typeface="Arial"/>
                <a:cs typeface="Arial"/>
                <a:sym typeface="Arial"/>
              </a:rPr>
              <a:t>K = 7: Train Accuracy = </a:t>
            </a:r>
            <a:r>
              <a:rPr b="1" lang="en" sz="1300">
                <a:latin typeface="Arial"/>
                <a:ea typeface="Arial"/>
                <a:cs typeface="Arial"/>
                <a:sym typeface="Arial"/>
              </a:rPr>
              <a:t>93.4%</a:t>
            </a:r>
            <a:r>
              <a:rPr lang="en" sz="1300">
                <a:latin typeface="Arial"/>
                <a:ea typeface="Arial"/>
                <a:cs typeface="Arial"/>
                <a:sym typeface="Arial"/>
              </a:rPr>
              <a:t>, Test Accuracy = </a:t>
            </a:r>
            <a:r>
              <a:rPr b="1" lang="en" sz="1300">
                <a:latin typeface="Arial"/>
                <a:ea typeface="Arial"/>
                <a:cs typeface="Arial"/>
                <a:sym typeface="Arial"/>
              </a:rPr>
              <a:t>89.7%</a:t>
            </a:r>
            <a:endParaRPr b="1" sz="1300">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b="1" lang="en">
                <a:latin typeface="Arial"/>
                <a:ea typeface="Arial"/>
                <a:cs typeface="Arial"/>
                <a:sym typeface="Arial"/>
              </a:rPr>
              <a:t>Key Observations</a:t>
            </a:r>
            <a:r>
              <a:rPr lang="en">
                <a:latin typeface="Arial"/>
                <a:ea typeface="Arial"/>
                <a:cs typeface="Arial"/>
                <a:sym typeface="Arial"/>
              </a:rPr>
              <a:t>:</a:t>
            </a:r>
            <a:endParaRPr>
              <a:latin typeface="Arial"/>
              <a:ea typeface="Arial"/>
              <a:cs typeface="Arial"/>
              <a:sym typeface="Arial"/>
            </a:endParaRPr>
          </a:p>
          <a:p>
            <a:pPr indent="-311150" lvl="1" marL="914400" rtl="0" algn="l">
              <a:spcBef>
                <a:spcPts val="0"/>
              </a:spcBef>
              <a:spcAft>
                <a:spcPts val="0"/>
              </a:spcAft>
              <a:buClr>
                <a:schemeClr val="lt1"/>
              </a:buClr>
              <a:buSzPts val="1300"/>
              <a:buFont typeface="Arial"/>
              <a:buChar char="○"/>
            </a:pPr>
            <a:r>
              <a:rPr lang="en" sz="1300">
                <a:latin typeface="Arial"/>
                <a:ea typeface="Arial"/>
                <a:cs typeface="Arial"/>
                <a:sym typeface="Arial"/>
              </a:rPr>
              <a:t>Train accuracy decreases as </a:t>
            </a:r>
            <a:r>
              <a:rPr b="1" lang="en" sz="1300">
                <a:latin typeface="Arial"/>
                <a:ea typeface="Arial"/>
                <a:cs typeface="Arial"/>
                <a:sym typeface="Arial"/>
              </a:rPr>
              <a:t>K increases</a:t>
            </a:r>
            <a:r>
              <a:rPr lang="en" sz="1300">
                <a:latin typeface="Arial"/>
                <a:ea typeface="Arial"/>
                <a:cs typeface="Arial"/>
                <a:sym typeface="Arial"/>
              </a:rPr>
              <a:t>, indicating reduced overfitting.</a:t>
            </a:r>
            <a:endParaRPr sz="1300">
              <a:latin typeface="Arial"/>
              <a:ea typeface="Arial"/>
              <a:cs typeface="Arial"/>
              <a:sym typeface="Arial"/>
            </a:endParaRPr>
          </a:p>
          <a:p>
            <a:pPr indent="-311150" lvl="1" marL="914400" rtl="0" algn="l">
              <a:spcBef>
                <a:spcPts val="0"/>
              </a:spcBef>
              <a:spcAft>
                <a:spcPts val="0"/>
              </a:spcAft>
              <a:buClr>
                <a:schemeClr val="lt1"/>
              </a:buClr>
              <a:buSzPts val="1300"/>
              <a:buFont typeface="Arial"/>
              <a:buChar char="○"/>
            </a:pPr>
            <a:r>
              <a:rPr lang="en" sz="1300">
                <a:latin typeface="Arial"/>
                <a:ea typeface="Arial"/>
                <a:cs typeface="Arial"/>
                <a:sym typeface="Arial"/>
              </a:rPr>
              <a:t>Test accuracy is </a:t>
            </a:r>
            <a:r>
              <a:rPr b="1" lang="en" sz="1300">
                <a:latin typeface="Arial"/>
                <a:ea typeface="Arial"/>
                <a:cs typeface="Arial"/>
                <a:sym typeface="Arial"/>
              </a:rPr>
              <a:t>highest at K=3</a:t>
            </a:r>
            <a:r>
              <a:rPr lang="en" sz="1300">
                <a:latin typeface="Arial"/>
                <a:ea typeface="Arial"/>
                <a:cs typeface="Arial"/>
                <a:sym typeface="Arial"/>
              </a:rPr>
              <a:t>, making it the best-performing model.</a:t>
            </a:r>
            <a:endParaRPr sz="1300">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b="1" lang="en">
                <a:latin typeface="Arial"/>
                <a:ea typeface="Arial"/>
                <a:cs typeface="Arial"/>
                <a:sym typeface="Arial"/>
              </a:rPr>
              <a:t>Graph Interpretation</a:t>
            </a:r>
            <a:r>
              <a:rPr lang="en">
                <a:latin typeface="Arial"/>
                <a:ea typeface="Arial"/>
                <a:cs typeface="Arial"/>
                <a:sym typeface="Arial"/>
              </a:rPr>
              <a:t>:</a:t>
            </a:r>
            <a:endParaRPr>
              <a:latin typeface="Arial"/>
              <a:ea typeface="Arial"/>
              <a:cs typeface="Arial"/>
              <a:sym typeface="Arial"/>
            </a:endParaRPr>
          </a:p>
          <a:p>
            <a:pPr indent="-311150" lvl="1" marL="914400" rtl="0" algn="l">
              <a:spcBef>
                <a:spcPts val="0"/>
              </a:spcBef>
              <a:spcAft>
                <a:spcPts val="0"/>
              </a:spcAft>
              <a:buClr>
                <a:schemeClr val="lt1"/>
              </a:buClr>
              <a:buSzPts val="1300"/>
              <a:buFont typeface="Arial"/>
              <a:buChar char="○"/>
            </a:pPr>
            <a:r>
              <a:rPr lang="en" sz="1300">
                <a:latin typeface="Arial"/>
                <a:ea typeface="Arial"/>
                <a:cs typeface="Arial"/>
                <a:sym typeface="Arial"/>
              </a:rPr>
              <a:t>Clear trade-off between training accuracy and generalization (test accuracy).</a:t>
            </a:r>
            <a:endParaRPr sz="1300">
              <a:latin typeface="Arial"/>
              <a:ea typeface="Arial"/>
              <a:cs typeface="Arial"/>
              <a:sym typeface="Arial"/>
            </a:endParaRPr>
          </a:p>
          <a:p>
            <a:pPr indent="-311150" lvl="1" marL="914400" rtl="0" algn="l">
              <a:spcBef>
                <a:spcPts val="0"/>
              </a:spcBef>
              <a:spcAft>
                <a:spcPts val="0"/>
              </a:spcAft>
              <a:buClr>
                <a:schemeClr val="lt1"/>
              </a:buClr>
              <a:buSzPts val="1300"/>
              <a:buFont typeface="Arial"/>
              <a:buChar char="○"/>
            </a:pPr>
            <a:r>
              <a:rPr lang="en" sz="1300">
                <a:latin typeface="Arial"/>
                <a:ea typeface="Arial"/>
                <a:cs typeface="Arial"/>
                <a:sym typeface="Arial"/>
              </a:rPr>
              <a:t>K=3 balances accuracy and overfitting effectively.</a:t>
            </a:r>
            <a:endParaRPr sz="1300">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b="1" lang="en">
                <a:latin typeface="Arial"/>
                <a:ea typeface="Arial"/>
                <a:cs typeface="Arial"/>
                <a:sym typeface="Arial"/>
              </a:rPr>
              <a:t>Best K Value</a:t>
            </a:r>
            <a:r>
              <a:rPr lang="en">
                <a:latin typeface="Arial"/>
                <a:ea typeface="Arial"/>
                <a:cs typeface="Arial"/>
                <a:sym typeface="Arial"/>
              </a:rPr>
              <a:t>:</a:t>
            </a:r>
            <a:endParaRPr>
              <a:latin typeface="Arial"/>
              <a:ea typeface="Arial"/>
              <a:cs typeface="Arial"/>
              <a:sym typeface="Arial"/>
            </a:endParaRPr>
          </a:p>
          <a:p>
            <a:pPr indent="-311150" lvl="1" marL="914400" rtl="0" algn="l">
              <a:spcBef>
                <a:spcPts val="0"/>
              </a:spcBef>
              <a:spcAft>
                <a:spcPts val="0"/>
              </a:spcAft>
              <a:buClr>
                <a:schemeClr val="lt1"/>
              </a:buClr>
              <a:buSzPts val="1300"/>
              <a:buFont typeface="Arial"/>
              <a:buChar char="○"/>
            </a:pPr>
            <a:r>
              <a:rPr lang="en" sz="1300">
                <a:latin typeface="Arial"/>
                <a:ea typeface="Arial"/>
                <a:cs typeface="Arial"/>
                <a:sym typeface="Arial"/>
              </a:rPr>
              <a:t>Based on testing accuracy, the optimal value of </a:t>
            </a:r>
            <a:r>
              <a:rPr b="1" lang="en" sz="1300">
                <a:latin typeface="Arial"/>
                <a:ea typeface="Arial"/>
                <a:cs typeface="Arial"/>
                <a:sym typeface="Arial"/>
              </a:rPr>
              <a:t>K is 3</a:t>
            </a:r>
            <a:r>
              <a:rPr lang="en" sz="1300">
                <a:latin typeface="Arial"/>
                <a:ea typeface="Arial"/>
                <a:cs typeface="Arial"/>
                <a:sym typeface="Arial"/>
              </a:rPr>
              <a:t>.</a:t>
            </a:r>
            <a:endParaRPr sz="1300">
              <a:latin typeface="Arial"/>
              <a:ea typeface="Arial"/>
              <a:cs typeface="Arial"/>
              <a:sym typeface="Arial"/>
            </a:endParaRPr>
          </a:p>
          <a:p>
            <a:pPr indent="0" lvl="0" marL="0" rtl="0" algn="l">
              <a:spcBef>
                <a:spcPts val="1200"/>
              </a:spcBef>
              <a:spcAft>
                <a:spcPts val="1200"/>
              </a:spcAft>
              <a:buNone/>
            </a:pPr>
            <a:r>
              <a:t/>
            </a: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txBox="1"/>
          <p:nvPr>
            <p:ph idx="1" type="body"/>
          </p:nvPr>
        </p:nvSpPr>
        <p:spPr>
          <a:xfrm>
            <a:off x="1123525" y="542850"/>
            <a:ext cx="7175700" cy="40578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1400"/>
              </a:spcBef>
              <a:spcAft>
                <a:spcPts val="0"/>
              </a:spcAft>
              <a:buNone/>
            </a:pPr>
            <a:r>
              <a:rPr b="1" lang="en">
                <a:latin typeface="Arial"/>
                <a:ea typeface="Arial"/>
                <a:cs typeface="Arial"/>
                <a:sym typeface="Arial"/>
              </a:rPr>
              <a:t>K=3 The Best model</a:t>
            </a:r>
            <a:endParaRPr b="1">
              <a:latin typeface="Arial"/>
              <a:ea typeface="Arial"/>
              <a:cs typeface="Arial"/>
              <a:sym typeface="Arial"/>
            </a:endParaRPr>
          </a:p>
          <a:p>
            <a:pPr indent="0" lvl="0" marL="0" rtl="0" algn="just">
              <a:spcBef>
                <a:spcPts val="1400"/>
              </a:spcBef>
              <a:spcAft>
                <a:spcPts val="0"/>
              </a:spcAft>
              <a:buNone/>
            </a:pPr>
            <a:r>
              <a:rPr b="1" lang="en">
                <a:latin typeface="Arial"/>
                <a:ea typeface="Arial"/>
                <a:cs typeface="Arial"/>
                <a:sym typeface="Arial"/>
              </a:rPr>
              <a:t>1. Highest Training Accuracy</a:t>
            </a:r>
            <a:endParaRPr b="1">
              <a:latin typeface="Arial"/>
              <a:ea typeface="Arial"/>
              <a:cs typeface="Arial"/>
              <a:sym typeface="Arial"/>
            </a:endParaRPr>
          </a:p>
          <a:p>
            <a:pPr indent="-293211" lvl="0" marL="457200" rtl="0" algn="just">
              <a:spcBef>
                <a:spcPts val="1200"/>
              </a:spcBef>
              <a:spcAft>
                <a:spcPts val="0"/>
              </a:spcAft>
              <a:buSzPct val="100000"/>
              <a:buFont typeface="Arial"/>
              <a:buChar char="●"/>
            </a:pPr>
            <a:r>
              <a:rPr lang="en" sz="1100">
                <a:latin typeface="Arial"/>
                <a:ea typeface="Arial"/>
                <a:cs typeface="Arial"/>
                <a:sym typeface="Arial"/>
              </a:rPr>
              <a:t>K=3 achieves the highest training accuracy (95%), demonstrating that the model captures patterns in the training data effectively. While smaller K values can lead to overfitting, the test accuracy of 85% suggests that the model still generalizes reasonably well.</a:t>
            </a:r>
            <a:endParaRPr sz="1100">
              <a:latin typeface="Arial"/>
              <a:ea typeface="Arial"/>
              <a:cs typeface="Arial"/>
              <a:sym typeface="Arial"/>
            </a:endParaRPr>
          </a:p>
          <a:p>
            <a:pPr indent="0" lvl="0" marL="0" rtl="0" algn="just">
              <a:spcBef>
                <a:spcPts val="1400"/>
              </a:spcBef>
              <a:spcAft>
                <a:spcPts val="0"/>
              </a:spcAft>
              <a:buNone/>
            </a:pPr>
            <a:r>
              <a:rPr b="1" lang="en">
                <a:latin typeface="Arial"/>
                <a:ea typeface="Arial"/>
                <a:cs typeface="Arial"/>
                <a:sym typeface="Arial"/>
              </a:rPr>
              <a:t>2. Sharper Decision Boundaries</a:t>
            </a:r>
            <a:endParaRPr b="1">
              <a:latin typeface="Arial"/>
              <a:ea typeface="Arial"/>
              <a:cs typeface="Arial"/>
              <a:sym typeface="Arial"/>
            </a:endParaRPr>
          </a:p>
          <a:p>
            <a:pPr indent="-293211" lvl="0" marL="457200" rtl="0" algn="just">
              <a:spcBef>
                <a:spcPts val="1200"/>
              </a:spcBef>
              <a:spcAft>
                <a:spcPts val="0"/>
              </a:spcAft>
              <a:buSzPct val="100000"/>
              <a:buFont typeface="Arial"/>
              <a:buChar char="●"/>
            </a:pPr>
            <a:r>
              <a:rPr lang="en" sz="1100">
                <a:latin typeface="Arial"/>
                <a:ea typeface="Arial"/>
                <a:cs typeface="Arial"/>
                <a:sym typeface="Arial"/>
              </a:rPr>
              <a:t>At K=3, the model creates sharper decision boundaries, which are beneficial for datasets with distinct clusters or where clear separations between classes are crucial. This makes the model more responsive to subtle differences in feature space.</a:t>
            </a:r>
            <a:endParaRPr sz="1100">
              <a:latin typeface="Arial"/>
              <a:ea typeface="Arial"/>
              <a:cs typeface="Arial"/>
              <a:sym typeface="Arial"/>
            </a:endParaRPr>
          </a:p>
          <a:p>
            <a:pPr indent="0" lvl="0" marL="0" rtl="0" algn="just">
              <a:spcBef>
                <a:spcPts val="1400"/>
              </a:spcBef>
              <a:spcAft>
                <a:spcPts val="0"/>
              </a:spcAft>
              <a:buNone/>
            </a:pPr>
            <a:r>
              <a:rPr b="1" lang="en">
                <a:latin typeface="Arial"/>
                <a:ea typeface="Arial"/>
                <a:cs typeface="Arial"/>
                <a:sym typeface="Arial"/>
              </a:rPr>
              <a:t>3. Marginal Gain in Test Accuracy at K=7</a:t>
            </a:r>
            <a:endParaRPr b="1">
              <a:latin typeface="Arial"/>
              <a:ea typeface="Arial"/>
              <a:cs typeface="Arial"/>
              <a:sym typeface="Arial"/>
            </a:endParaRPr>
          </a:p>
          <a:p>
            <a:pPr indent="-293211" lvl="0" marL="457200" rtl="0" algn="just">
              <a:spcBef>
                <a:spcPts val="1200"/>
              </a:spcBef>
              <a:spcAft>
                <a:spcPts val="0"/>
              </a:spcAft>
              <a:buSzPct val="100000"/>
              <a:buFont typeface="Arial"/>
              <a:buChar char="●"/>
            </a:pPr>
            <a:r>
              <a:rPr lang="en" sz="1100">
                <a:latin typeface="Arial"/>
                <a:ea typeface="Arial"/>
                <a:cs typeface="Arial"/>
                <a:sym typeface="Arial"/>
              </a:rPr>
              <a:t>While K=7 achieves slightly higher test accuracy (89% vs. 85%), the gain is marginal and comes at the cost of reduced training accuracy. K=3 provides a simpler model with competitive generalization performance.</a:t>
            </a:r>
            <a:endParaRPr sz="1100">
              <a:latin typeface="Arial"/>
              <a:ea typeface="Arial"/>
              <a:cs typeface="Arial"/>
              <a:sym typeface="Arial"/>
            </a:endParaRPr>
          </a:p>
          <a:p>
            <a:pPr indent="0" lvl="0" marL="0" rtl="0" algn="just">
              <a:spcBef>
                <a:spcPts val="1400"/>
              </a:spcBef>
              <a:spcAft>
                <a:spcPts val="0"/>
              </a:spcAft>
              <a:buNone/>
            </a:pPr>
            <a:r>
              <a:rPr b="1" lang="en">
                <a:latin typeface="Arial"/>
                <a:ea typeface="Arial"/>
                <a:cs typeface="Arial"/>
                <a:sym typeface="Arial"/>
              </a:rPr>
              <a:t>4. Model Simplicity and Efficiency</a:t>
            </a:r>
            <a:endParaRPr b="1">
              <a:latin typeface="Arial"/>
              <a:ea typeface="Arial"/>
              <a:cs typeface="Arial"/>
              <a:sym typeface="Arial"/>
            </a:endParaRPr>
          </a:p>
          <a:p>
            <a:pPr indent="-293211" lvl="0" marL="457200" rtl="0" algn="just">
              <a:spcBef>
                <a:spcPts val="1200"/>
              </a:spcBef>
              <a:spcAft>
                <a:spcPts val="0"/>
              </a:spcAft>
              <a:buSzPct val="100000"/>
              <a:buFont typeface="Arial"/>
              <a:buChar char="●"/>
            </a:pPr>
            <a:r>
              <a:rPr lang="en" sz="1100">
                <a:latin typeface="Arial"/>
                <a:ea typeface="Arial"/>
                <a:cs typeface="Arial"/>
                <a:sym typeface="Arial"/>
              </a:rPr>
              <a:t>K=3 requires fewer computations during prediction compared to K=7, making it more efficient. This simplicity is particularly advantageous in real-time applications or when scalability is a concern.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0"/>
          <p:cNvSpPr txBox="1"/>
          <p:nvPr>
            <p:ph type="title"/>
          </p:nvPr>
        </p:nvSpPr>
        <p:spPr>
          <a:xfrm>
            <a:off x="2515400" y="393750"/>
            <a:ext cx="3798900" cy="643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990"/>
              <a:buNone/>
            </a:pPr>
            <a:r>
              <a:rPr b="1" lang="en" sz="2070">
                <a:latin typeface="Arial"/>
                <a:ea typeface="Arial"/>
                <a:cs typeface="Arial"/>
                <a:sym typeface="Arial"/>
              </a:rPr>
              <a:t>Future Improvements</a:t>
            </a:r>
            <a:endParaRPr b="1" sz="2070">
              <a:latin typeface="Arial"/>
              <a:ea typeface="Arial"/>
              <a:cs typeface="Arial"/>
              <a:sym typeface="Arial"/>
            </a:endParaRPr>
          </a:p>
          <a:p>
            <a:pPr indent="0" lvl="0" marL="0" rtl="0" algn="l">
              <a:spcBef>
                <a:spcPts val="400"/>
              </a:spcBef>
              <a:spcAft>
                <a:spcPts val="0"/>
              </a:spcAft>
              <a:buSzPts val="990"/>
              <a:buNone/>
            </a:pPr>
            <a:r>
              <a:t/>
            </a:r>
            <a:endParaRPr sz="3060"/>
          </a:p>
        </p:txBody>
      </p:sp>
      <p:sp>
        <p:nvSpPr>
          <p:cNvPr id="242" name="Google Shape;242;p30"/>
          <p:cNvSpPr txBox="1"/>
          <p:nvPr>
            <p:ph idx="1" type="body"/>
          </p:nvPr>
        </p:nvSpPr>
        <p:spPr>
          <a:xfrm>
            <a:off x="1611550" y="1037550"/>
            <a:ext cx="6470100" cy="3740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b="1" lang="en" sz="1587">
                <a:latin typeface="Arial"/>
                <a:ea typeface="Arial"/>
                <a:cs typeface="Arial"/>
                <a:sym typeface="Arial"/>
              </a:rPr>
              <a:t>Hyperparameter Tuning</a:t>
            </a:r>
            <a:r>
              <a:rPr lang="en" sz="1587">
                <a:latin typeface="Arial"/>
                <a:ea typeface="Arial"/>
                <a:cs typeface="Arial"/>
                <a:sym typeface="Arial"/>
              </a:rPr>
              <a:t>: Use </a:t>
            </a:r>
            <a:r>
              <a:rPr b="1" lang="en" sz="1587">
                <a:latin typeface="Arial"/>
                <a:ea typeface="Arial"/>
                <a:cs typeface="Arial"/>
                <a:sym typeface="Arial"/>
              </a:rPr>
              <a:t>grid search</a:t>
            </a:r>
            <a:r>
              <a:rPr lang="en" sz="1587">
                <a:latin typeface="Arial"/>
                <a:ea typeface="Arial"/>
                <a:cs typeface="Arial"/>
                <a:sym typeface="Arial"/>
              </a:rPr>
              <a:t> to test more K values and distance metrics (e.g., Manhattan, Minkowski).</a:t>
            </a:r>
            <a:endParaRPr sz="1587">
              <a:latin typeface="Arial"/>
              <a:ea typeface="Arial"/>
              <a:cs typeface="Arial"/>
              <a:sym typeface="Arial"/>
            </a:endParaRPr>
          </a:p>
          <a:p>
            <a:pPr indent="0" lvl="0" marL="0" rtl="0" algn="l">
              <a:lnSpc>
                <a:spcPct val="95000"/>
              </a:lnSpc>
              <a:spcBef>
                <a:spcPts val="1200"/>
              </a:spcBef>
              <a:spcAft>
                <a:spcPts val="0"/>
              </a:spcAft>
              <a:buSzPts val="688"/>
              <a:buNone/>
            </a:pPr>
            <a:r>
              <a:rPr b="1" lang="en" sz="1587">
                <a:latin typeface="Arial"/>
                <a:ea typeface="Arial"/>
                <a:cs typeface="Arial"/>
                <a:sym typeface="Arial"/>
              </a:rPr>
              <a:t>Feature Optimization</a:t>
            </a:r>
            <a:r>
              <a:rPr lang="en" sz="1587">
                <a:latin typeface="Arial"/>
                <a:ea typeface="Arial"/>
                <a:cs typeface="Arial"/>
                <a:sym typeface="Arial"/>
              </a:rPr>
              <a:t>: Apply </a:t>
            </a:r>
            <a:r>
              <a:rPr b="1" lang="en" sz="1587">
                <a:latin typeface="Arial"/>
                <a:ea typeface="Arial"/>
                <a:cs typeface="Arial"/>
                <a:sym typeface="Arial"/>
              </a:rPr>
              <a:t>feature selection</a:t>
            </a:r>
            <a:r>
              <a:rPr lang="en" sz="1587">
                <a:latin typeface="Arial"/>
                <a:ea typeface="Arial"/>
                <a:cs typeface="Arial"/>
                <a:sym typeface="Arial"/>
              </a:rPr>
              <a:t> or </a:t>
            </a:r>
            <a:r>
              <a:rPr b="1" lang="en" sz="1587">
                <a:latin typeface="Arial"/>
                <a:ea typeface="Arial"/>
                <a:cs typeface="Arial"/>
                <a:sym typeface="Arial"/>
              </a:rPr>
              <a:t>dimensionality reduction</a:t>
            </a:r>
            <a:r>
              <a:rPr lang="en" sz="1587">
                <a:latin typeface="Arial"/>
                <a:ea typeface="Arial"/>
                <a:cs typeface="Arial"/>
                <a:sym typeface="Arial"/>
              </a:rPr>
              <a:t> to reduce noise and improve efficiency.</a:t>
            </a:r>
            <a:endParaRPr sz="1587">
              <a:latin typeface="Arial"/>
              <a:ea typeface="Arial"/>
              <a:cs typeface="Arial"/>
              <a:sym typeface="Arial"/>
            </a:endParaRPr>
          </a:p>
          <a:p>
            <a:pPr indent="0" lvl="0" marL="0" rtl="0" algn="l">
              <a:lnSpc>
                <a:spcPct val="95000"/>
              </a:lnSpc>
              <a:spcBef>
                <a:spcPts val="1200"/>
              </a:spcBef>
              <a:spcAft>
                <a:spcPts val="0"/>
              </a:spcAft>
              <a:buSzPts val="688"/>
              <a:buNone/>
            </a:pPr>
            <a:r>
              <a:rPr b="1" lang="en" sz="1587">
                <a:latin typeface="Arial"/>
                <a:ea typeface="Arial"/>
                <a:cs typeface="Arial"/>
                <a:sym typeface="Arial"/>
              </a:rPr>
              <a:t>Class Imbalance</a:t>
            </a:r>
            <a:r>
              <a:rPr lang="en" sz="1587">
                <a:latin typeface="Arial"/>
                <a:ea typeface="Arial"/>
                <a:cs typeface="Arial"/>
                <a:sym typeface="Arial"/>
              </a:rPr>
              <a:t>: Use techniques like </a:t>
            </a:r>
            <a:r>
              <a:rPr b="1" lang="en" sz="1587">
                <a:latin typeface="Arial"/>
                <a:ea typeface="Arial"/>
                <a:cs typeface="Arial"/>
                <a:sym typeface="Arial"/>
              </a:rPr>
              <a:t>SMOTE</a:t>
            </a:r>
            <a:r>
              <a:rPr lang="en" sz="1587">
                <a:latin typeface="Arial"/>
                <a:ea typeface="Arial"/>
                <a:cs typeface="Arial"/>
                <a:sym typeface="Arial"/>
              </a:rPr>
              <a:t> to balance the dataset and enhance accuracy for "Low Performance."</a:t>
            </a:r>
            <a:endParaRPr sz="1587">
              <a:latin typeface="Arial"/>
              <a:ea typeface="Arial"/>
              <a:cs typeface="Arial"/>
              <a:sym typeface="Arial"/>
            </a:endParaRPr>
          </a:p>
          <a:p>
            <a:pPr indent="0" lvl="0" marL="0" rtl="0" algn="l">
              <a:lnSpc>
                <a:spcPct val="95000"/>
              </a:lnSpc>
              <a:spcBef>
                <a:spcPts val="1200"/>
              </a:spcBef>
              <a:spcAft>
                <a:spcPts val="0"/>
              </a:spcAft>
              <a:buSzPts val="688"/>
              <a:buNone/>
            </a:pPr>
            <a:r>
              <a:rPr b="1" lang="en" sz="1587">
                <a:latin typeface="Arial"/>
                <a:ea typeface="Arial"/>
                <a:cs typeface="Arial"/>
                <a:sym typeface="Arial"/>
              </a:rPr>
              <a:t>Alternative Models</a:t>
            </a:r>
            <a:r>
              <a:rPr lang="en" sz="1587">
                <a:latin typeface="Arial"/>
                <a:ea typeface="Arial"/>
                <a:cs typeface="Arial"/>
                <a:sym typeface="Arial"/>
              </a:rPr>
              <a:t>: Test other algorithms like </a:t>
            </a:r>
            <a:r>
              <a:rPr b="1" lang="en" sz="1587">
                <a:latin typeface="Arial"/>
                <a:ea typeface="Arial"/>
                <a:cs typeface="Arial"/>
                <a:sym typeface="Arial"/>
              </a:rPr>
              <a:t>Logistic Regression</a:t>
            </a:r>
            <a:r>
              <a:rPr lang="en" sz="1587">
                <a:latin typeface="Arial"/>
                <a:ea typeface="Arial"/>
                <a:cs typeface="Arial"/>
                <a:sym typeface="Arial"/>
              </a:rPr>
              <a:t> or </a:t>
            </a:r>
            <a:r>
              <a:rPr b="1" lang="en" sz="1587">
                <a:latin typeface="Arial"/>
                <a:ea typeface="Arial"/>
                <a:cs typeface="Arial"/>
                <a:sym typeface="Arial"/>
              </a:rPr>
              <a:t>Decision Trees</a:t>
            </a:r>
            <a:r>
              <a:rPr lang="en" sz="1587">
                <a:latin typeface="Arial"/>
                <a:ea typeface="Arial"/>
                <a:cs typeface="Arial"/>
                <a:sym typeface="Arial"/>
              </a:rPr>
              <a:t> for better performance.</a:t>
            </a:r>
            <a:endParaRPr sz="1587">
              <a:latin typeface="Arial"/>
              <a:ea typeface="Arial"/>
              <a:cs typeface="Arial"/>
              <a:sym typeface="Arial"/>
            </a:endParaRPr>
          </a:p>
          <a:p>
            <a:pPr indent="0" lvl="0" marL="0" rtl="0" algn="l">
              <a:lnSpc>
                <a:spcPct val="95000"/>
              </a:lnSpc>
              <a:spcBef>
                <a:spcPts val="1200"/>
              </a:spcBef>
              <a:spcAft>
                <a:spcPts val="0"/>
              </a:spcAft>
              <a:buSzPts val="688"/>
              <a:buNone/>
            </a:pPr>
            <a:r>
              <a:rPr b="1" lang="en" sz="1587">
                <a:latin typeface="Arial"/>
                <a:ea typeface="Arial"/>
                <a:cs typeface="Arial"/>
                <a:sym typeface="Arial"/>
              </a:rPr>
              <a:t>Summary</a:t>
            </a:r>
            <a:r>
              <a:rPr lang="en" sz="1587">
                <a:latin typeface="Arial"/>
                <a:ea typeface="Arial"/>
                <a:cs typeface="Arial"/>
                <a:sym typeface="Arial"/>
              </a:rPr>
              <a:t>:</a:t>
            </a:r>
            <a:endParaRPr sz="1587">
              <a:latin typeface="Arial"/>
              <a:ea typeface="Arial"/>
              <a:cs typeface="Arial"/>
              <a:sym typeface="Arial"/>
            </a:endParaRPr>
          </a:p>
          <a:p>
            <a:pPr indent="-329406" lvl="0" marL="457200" rtl="0" algn="l">
              <a:lnSpc>
                <a:spcPct val="95000"/>
              </a:lnSpc>
              <a:spcBef>
                <a:spcPts val="1200"/>
              </a:spcBef>
              <a:spcAft>
                <a:spcPts val="0"/>
              </a:spcAft>
              <a:buClr>
                <a:schemeClr val="lt1"/>
              </a:buClr>
              <a:buSzPts val="1588"/>
              <a:buFont typeface="Arial"/>
              <a:buChar char="●"/>
            </a:pPr>
            <a:r>
              <a:rPr lang="en" sz="1587">
                <a:latin typeface="Arial"/>
                <a:ea typeface="Arial"/>
                <a:cs typeface="Arial"/>
                <a:sym typeface="Arial"/>
              </a:rPr>
              <a:t>The K-NN model performed well, but these improvements can enhance accuracy and reliability further.</a:t>
            </a:r>
            <a:endParaRPr sz="1587">
              <a:latin typeface="Arial"/>
              <a:ea typeface="Arial"/>
              <a:cs typeface="Arial"/>
              <a:sym typeface="Arial"/>
            </a:endParaRPr>
          </a:p>
          <a:p>
            <a:pPr indent="0" lvl="0" marL="0" rtl="0" algn="l">
              <a:lnSpc>
                <a:spcPct val="95000"/>
              </a:lnSpc>
              <a:spcBef>
                <a:spcPts val="1200"/>
              </a:spcBef>
              <a:spcAft>
                <a:spcPts val="1200"/>
              </a:spcAft>
              <a:buSzPts val="688"/>
              <a:buNone/>
            </a:pPr>
            <a:r>
              <a:t/>
            </a:r>
            <a:endParaRPr sz="1712"/>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1"/>
          <p:cNvSpPr txBox="1"/>
          <p:nvPr>
            <p:ph type="title"/>
          </p:nvPr>
        </p:nvSpPr>
        <p:spPr>
          <a:xfrm>
            <a:off x="2871625" y="403775"/>
            <a:ext cx="3798900" cy="6429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990"/>
              <a:buNone/>
            </a:pPr>
            <a:r>
              <a:rPr b="1" lang="en" sz="2670">
                <a:latin typeface="Arial"/>
                <a:ea typeface="Arial"/>
                <a:cs typeface="Arial"/>
                <a:sym typeface="Arial"/>
              </a:rPr>
              <a:t>Conclusion</a:t>
            </a:r>
            <a:endParaRPr b="1" sz="2670">
              <a:latin typeface="Arial"/>
              <a:ea typeface="Arial"/>
              <a:cs typeface="Arial"/>
              <a:sym typeface="Arial"/>
            </a:endParaRPr>
          </a:p>
          <a:p>
            <a:pPr indent="0" lvl="0" marL="457200" rtl="0" algn="l">
              <a:lnSpc>
                <a:spcPct val="115000"/>
              </a:lnSpc>
              <a:spcBef>
                <a:spcPts val="1200"/>
              </a:spcBef>
              <a:spcAft>
                <a:spcPts val="0"/>
              </a:spcAft>
              <a:buNone/>
            </a:pPr>
            <a:r>
              <a:t/>
            </a:r>
            <a:endParaRPr sz="1590">
              <a:latin typeface="Arial"/>
              <a:ea typeface="Arial"/>
              <a:cs typeface="Arial"/>
              <a:sym typeface="Arial"/>
            </a:endParaRPr>
          </a:p>
          <a:p>
            <a:pPr indent="0" lvl="0" marL="0" rtl="0" algn="l">
              <a:spcBef>
                <a:spcPts val="1200"/>
              </a:spcBef>
              <a:spcAft>
                <a:spcPts val="0"/>
              </a:spcAft>
              <a:buSzPts val="990"/>
              <a:buNone/>
            </a:pPr>
            <a:r>
              <a:t/>
            </a:r>
            <a:endParaRPr sz="2760"/>
          </a:p>
        </p:txBody>
      </p:sp>
      <p:sp>
        <p:nvSpPr>
          <p:cNvPr id="248" name="Google Shape;248;p31"/>
          <p:cNvSpPr txBox="1"/>
          <p:nvPr>
            <p:ph idx="1" type="body"/>
          </p:nvPr>
        </p:nvSpPr>
        <p:spPr>
          <a:xfrm>
            <a:off x="1287475" y="1100250"/>
            <a:ext cx="6254400" cy="358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Successfully classified students into </a:t>
            </a:r>
            <a:r>
              <a:rPr b="1" lang="en">
                <a:latin typeface="Arial"/>
                <a:ea typeface="Arial"/>
                <a:cs typeface="Arial"/>
                <a:sym typeface="Arial"/>
              </a:rPr>
              <a:t>High</a:t>
            </a:r>
            <a:r>
              <a:rPr lang="en">
                <a:latin typeface="Arial"/>
                <a:ea typeface="Arial"/>
                <a:cs typeface="Arial"/>
                <a:sym typeface="Arial"/>
              </a:rPr>
              <a:t> and </a:t>
            </a:r>
            <a:r>
              <a:rPr b="1" lang="en">
                <a:latin typeface="Arial"/>
                <a:ea typeface="Arial"/>
                <a:cs typeface="Arial"/>
                <a:sym typeface="Arial"/>
              </a:rPr>
              <a:t>Low Performance</a:t>
            </a:r>
            <a:r>
              <a:rPr lang="en">
                <a:latin typeface="Arial"/>
                <a:ea typeface="Arial"/>
                <a:cs typeface="Arial"/>
                <a:sym typeface="Arial"/>
              </a:rPr>
              <a:t> categories using the K-NN model.</a:t>
            </a:r>
            <a:endParaRPr>
              <a:latin typeface="Arial"/>
              <a:ea typeface="Arial"/>
              <a:cs typeface="Arial"/>
              <a:sym typeface="Arial"/>
            </a:endParaRPr>
          </a:p>
          <a:p>
            <a:pPr indent="0" lvl="0" marL="0" rtl="0" algn="l">
              <a:spcBef>
                <a:spcPts val="1200"/>
              </a:spcBef>
              <a:spcAft>
                <a:spcPts val="0"/>
              </a:spcAft>
              <a:buNone/>
            </a:pPr>
            <a:r>
              <a:rPr b="1" lang="en">
                <a:latin typeface="Arial"/>
                <a:ea typeface="Arial"/>
                <a:cs typeface="Arial"/>
                <a:sym typeface="Arial"/>
              </a:rPr>
              <a:t>Data Preprocessing</a:t>
            </a:r>
            <a:r>
              <a:rPr lang="en">
                <a:latin typeface="Arial"/>
                <a:ea typeface="Arial"/>
                <a:cs typeface="Arial"/>
                <a:sym typeface="Arial"/>
              </a:rPr>
              <a:t>:</a:t>
            </a:r>
            <a:endParaRPr>
              <a:latin typeface="Arial"/>
              <a:ea typeface="Arial"/>
              <a:cs typeface="Arial"/>
              <a:sym typeface="Arial"/>
            </a:endParaRPr>
          </a:p>
          <a:p>
            <a:pPr indent="-311150" lvl="0" marL="457200" rtl="0" algn="l">
              <a:spcBef>
                <a:spcPts val="1200"/>
              </a:spcBef>
              <a:spcAft>
                <a:spcPts val="0"/>
              </a:spcAft>
              <a:buClr>
                <a:schemeClr val="lt1"/>
              </a:buClr>
              <a:buSzPts val="1300"/>
              <a:buFont typeface="Arial"/>
              <a:buChar char="●"/>
            </a:pPr>
            <a:r>
              <a:rPr lang="en">
                <a:latin typeface="Arial"/>
                <a:ea typeface="Arial"/>
                <a:cs typeface="Arial"/>
                <a:sym typeface="Arial"/>
              </a:rPr>
              <a:t>Encoded categorical variables and scaled numerical features to prepare the dataset.</a:t>
            </a:r>
            <a:endParaRPr>
              <a:latin typeface="Arial"/>
              <a:ea typeface="Arial"/>
              <a:cs typeface="Arial"/>
              <a:sym typeface="Arial"/>
            </a:endParaRPr>
          </a:p>
          <a:p>
            <a:pPr indent="0" lvl="0" marL="0" rtl="0" algn="l">
              <a:spcBef>
                <a:spcPts val="1200"/>
              </a:spcBef>
              <a:spcAft>
                <a:spcPts val="0"/>
              </a:spcAft>
              <a:buNone/>
            </a:pPr>
            <a:r>
              <a:rPr b="1" lang="en">
                <a:latin typeface="Arial"/>
                <a:ea typeface="Arial"/>
                <a:cs typeface="Arial"/>
                <a:sym typeface="Arial"/>
              </a:rPr>
              <a:t>K Value Insights</a:t>
            </a:r>
            <a:r>
              <a:rPr lang="en">
                <a:latin typeface="Arial"/>
                <a:ea typeface="Arial"/>
                <a:cs typeface="Arial"/>
                <a:sym typeface="Arial"/>
              </a:rPr>
              <a:t>:</a:t>
            </a:r>
            <a:endParaRPr>
              <a:latin typeface="Arial"/>
              <a:ea typeface="Arial"/>
              <a:cs typeface="Arial"/>
              <a:sym typeface="Arial"/>
            </a:endParaRPr>
          </a:p>
          <a:p>
            <a:pPr indent="-311150" lvl="0" marL="457200" rtl="0" algn="l">
              <a:spcBef>
                <a:spcPts val="1200"/>
              </a:spcBef>
              <a:spcAft>
                <a:spcPts val="0"/>
              </a:spcAft>
              <a:buClr>
                <a:schemeClr val="lt1"/>
              </a:buClr>
              <a:buSzPts val="1300"/>
              <a:buFont typeface="Arial"/>
              <a:buChar char="●"/>
            </a:pPr>
            <a:r>
              <a:rPr lang="en">
                <a:latin typeface="Arial"/>
                <a:ea typeface="Arial"/>
                <a:cs typeface="Arial"/>
                <a:sym typeface="Arial"/>
              </a:rPr>
              <a:t>Smaller </a:t>
            </a:r>
            <a:r>
              <a:rPr b="1" lang="en">
                <a:latin typeface="Arial"/>
                <a:ea typeface="Arial"/>
                <a:cs typeface="Arial"/>
                <a:sym typeface="Arial"/>
              </a:rPr>
              <a:t>K (K=3)</a:t>
            </a:r>
            <a:r>
              <a:rPr lang="en">
                <a:latin typeface="Arial"/>
                <a:ea typeface="Arial"/>
                <a:cs typeface="Arial"/>
                <a:sym typeface="Arial"/>
              </a:rPr>
              <a:t> achieved higher accuracy but risked overfitting.</a:t>
            </a:r>
            <a:endParaRPr>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lang="en">
                <a:latin typeface="Arial"/>
                <a:ea typeface="Arial"/>
                <a:cs typeface="Arial"/>
                <a:sym typeface="Arial"/>
              </a:rPr>
              <a:t>Generalization improved with larger K values, balancing </a:t>
            </a:r>
            <a:r>
              <a:rPr b="1" lang="en">
                <a:latin typeface="Arial"/>
                <a:ea typeface="Arial"/>
                <a:cs typeface="Arial"/>
                <a:sym typeface="Arial"/>
              </a:rPr>
              <a:t>bias and variance</a:t>
            </a:r>
            <a:r>
              <a:rPr lang="en">
                <a:latin typeface="Arial"/>
                <a:ea typeface="Arial"/>
                <a:cs typeface="Arial"/>
                <a:sym typeface="Arial"/>
              </a:rPr>
              <a:t>.</a:t>
            </a:r>
            <a:endParaRPr>
              <a:latin typeface="Arial"/>
              <a:ea typeface="Arial"/>
              <a:cs typeface="Arial"/>
              <a:sym typeface="Arial"/>
            </a:endParaRPr>
          </a:p>
          <a:p>
            <a:pPr indent="0" lvl="0" marL="0" rtl="0" algn="l">
              <a:spcBef>
                <a:spcPts val="1200"/>
              </a:spcBef>
              <a:spcAft>
                <a:spcPts val="0"/>
              </a:spcAft>
              <a:buNone/>
            </a:pPr>
            <a:r>
              <a:rPr b="1" lang="en">
                <a:latin typeface="Arial"/>
                <a:ea typeface="Arial"/>
                <a:cs typeface="Arial"/>
                <a:sym typeface="Arial"/>
              </a:rPr>
              <a:t>Best Model</a:t>
            </a:r>
            <a:r>
              <a:rPr lang="en">
                <a:latin typeface="Arial"/>
                <a:ea typeface="Arial"/>
                <a:cs typeface="Arial"/>
                <a:sym typeface="Arial"/>
              </a:rPr>
              <a:t>:</a:t>
            </a:r>
            <a:endParaRPr>
              <a:latin typeface="Arial"/>
              <a:ea typeface="Arial"/>
              <a:cs typeface="Arial"/>
              <a:sym typeface="Arial"/>
            </a:endParaRPr>
          </a:p>
          <a:p>
            <a:pPr indent="-311150" lvl="0" marL="457200" rtl="0" algn="l">
              <a:spcBef>
                <a:spcPts val="1200"/>
              </a:spcBef>
              <a:spcAft>
                <a:spcPts val="0"/>
              </a:spcAft>
              <a:buClr>
                <a:schemeClr val="lt1"/>
              </a:buClr>
              <a:buSzPts val="1300"/>
              <a:buFont typeface="Arial"/>
              <a:buChar char="●"/>
            </a:pPr>
            <a:r>
              <a:rPr lang="en">
                <a:latin typeface="Arial"/>
                <a:ea typeface="Arial"/>
                <a:cs typeface="Arial"/>
                <a:sym typeface="Arial"/>
              </a:rPr>
              <a:t>K=3 achieved </a:t>
            </a:r>
            <a:r>
              <a:rPr b="1" lang="en">
                <a:latin typeface="Arial"/>
                <a:ea typeface="Arial"/>
                <a:cs typeface="Arial"/>
                <a:sym typeface="Arial"/>
              </a:rPr>
              <a:t>89% test accuracy</a:t>
            </a:r>
            <a:r>
              <a:rPr lang="en">
                <a:latin typeface="Arial"/>
                <a:ea typeface="Arial"/>
                <a:cs typeface="Arial"/>
                <a:sym typeface="Arial"/>
              </a:rPr>
              <a:t>, making it the most reliable for this task.</a:t>
            </a:r>
            <a:endParaRPr>
              <a:latin typeface="Arial"/>
              <a:ea typeface="Arial"/>
              <a:cs typeface="Arial"/>
              <a:sym typeface="Arial"/>
            </a:endParaRPr>
          </a:p>
          <a:p>
            <a:pPr indent="0" lvl="0" marL="0" rtl="0" algn="l">
              <a:spcBef>
                <a:spcPts val="1200"/>
              </a:spcBef>
              <a:spcAft>
                <a:spcPts val="1200"/>
              </a:spcAft>
              <a:buNone/>
            </a:pPr>
            <a:r>
              <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idx="1" type="body"/>
          </p:nvPr>
        </p:nvSpPr>
        <p:spPr>
          <a:xfrm>
            <a:off x="4495875" y="2571750"/>
            <a:ext cx="3798900" cy="24159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3800">
                <a:latin typeface="Montserrat"/>
                <a:ea typeface="Montserrat"/>
                <a:cs typeface="Montserrat"/>
                <a:sym typeface="Montserrat"/>
              </a:rPr>
              <a:t>THANK YOU </a:t>
            </a:r>
            <a:endParaRPr sz="3800">
              <a:latin typeface="Montserrat"/>
              <a:ea typeface="Montserrat"/>
              <a:cs typeface="Montserrat"/>
              <a:sym typeface="Montserrat"/>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